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88" r:id="rId4"/>
    <p:sldId id="289" r:id="rId5"/>
    <p:sldId id="285" r:id="rId6"/>
    <p:sldId id="261" r:id="rId7"/>
    <p:sldId id="290" r:id="rId8"/>
    <p:sldId id="291" r:id="rId9"/>
    <p:sldId id="292" r:id="rId10"/>
    <p:sldId id="274" r:id="rId11"/>
    <p:sldId id="276" r:id="rId12"/>
    <p:sldId id="269" r:id="rId13"/>
    <p:sldId id="293" r:id="rId14"/>
    <p:sldId id="29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85801"/>
  </p:normalViewPr>
  <p:slideViewPr>
    <p:cSldViewPr snapToGrid="0">
      <p:cViewPr varScale="1">
        <p:scale>
          <a:sx n="123" d="100"/>
          <a:sy n="123" d="100"/>
        </p:scale>
        <p:origin x="19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12920-954D-C342-8B4A-3FF01F6EE8EB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A5DA7-CC6F-7740-84FD-04270A106C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766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distributed systems rely on complex inter-connected services, and service dependency relationships are inherently complex and constantly evolving.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4878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Modern cloud systems are built from many independent 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interacting services, each responsible for tasks such as storage,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 movement, scheduling, monitoring, and resource management.</a:t>
            </a:r>
          </a:p>
          <a:p>
            <a:r>
              <a:rPr kumimoji="1" lang="en-GB" altLang="zh-CN" dirty="0"/>
              <a:t>In production environments, a user request often</a:t>
            </a:r>
            <a:r>
              <a:rPr kumimoji="1" lang="zh-CN" altLang="en-US" dirty="0"/>
              <a:t> </a:t>
            </a:r>
            <a:r>
              <a:rPr kumimoji="1" lang="en-GB" altLang="zh-CN" dirty="0"/>
              <a:t>involves the execution of many different services. </a:t>
            </a:r>
            <a:r>
              <a:rPr kumimoji="1" lang="en-US" altLang="zh-CN" dirty="0"/>
              <a:t>f</a:t>
            </a:r>
            <a:r>
              <a:rPr kumimoji="1" lang="en-GB" altLang="zh-CN" dirty="0"/>
              <a:t>or example, to create a 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machine</a:t>
            </a:r>
            <a:r>
              <a:rPr kumimoji="1" lang="en-GB" altLang="zh-CN" dirty="0"/>
              <a:t> in the cloud, the user interface service</a:t>
            </a:r>
            <a:r>
              <a:rPr kumimoji="1" lang="zh-CN" altLang="en-US" dirty="0"/>
              <a:t> </a:t>
            </a:r>
            <a:r>
              <a:rPr kumimoji="1" lang="en-GB" altLang="zh-CN" dirty="0"/>
              <a:t>may fir</a:t>
            </a:r>
            <a:r>
              <a:rPr kumimoji="1" lang="en-US" altLang="zh-CN" dirty="0" err="1"/>
              <a:t>st</a:t>
            </a:r>
            <a:r>
              <a:rPr kumimoji="1" lang="zh-CN" altLang="en-US" dirty="0"/>
              <a:t> </a:t>
            </a:r>
            <a:r>
              <a:rPr kumimoji="1" lang="en-GB" altLang="zh-CN" dirty="0"/>
              <a:t>dispatch work to storage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r>
              <a:rPr kumimoji="1" lang="en-GB" altLang="zh-CN" dirty="0"/>
              <a:t> to find a suitable node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907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secondly</a:t>
            </a:r>
            <a:r>
              <a:rPr kumimoji="1" lang="zh-CN" altLang="en-US" dirty="0"/>
              <a:t> </a:t>
            </a:r>
            <a:r>
              <a:rPr kumimoji="1" lang="en-GB" altLang="zh-CN" dirty="0"/>
              <a:t>dispatch work to data</a:t>
            </a:r>
            <a:r>
              <a:rPr kumimoji="1" lang="zh-CN" altLang="en-US" dirty="0"/>
              <a:t> </a:t>
            </a:r>
            <a:r>
              <a:rPr kumimoji="1" lang="en-GB" altLang="zh-CN" dirty="0"/>
              <a:t>movement services to place the image on</a:t>
            </a:r>
            <a:r>
              <a:rPr kumimoji="1" lang="zh-CN" altLang="en-US" dirty="0"/>
              <a:t> </a:t>
            </a:r>
            <a:r>
              <a:rPr kumimoji="1" lang="en-GB" altLang="zh-CN" dirty="0"/>
              <a:t>that node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6125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finally</a:t>
            </a:r>
            <a:r>
              <a:rPr kumimoji="1" lang="zh-CN" altLang="en-US" dirty="0"/>
              <a:t> </a:t>
            </a:r>
            <a:r>
              <a:rPr kumimoji="1" lang="en-GB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r>
              <a:rPr kumimoji="1" lang="en-GB" altLang="zh-CN" dirty="0"/>
              <a:t> services to register the new </a:t>
            </a:r>
            <a:r>
              <a:rPr kumimoji="1" lang="en-US" altLang="zh-CN" dirty="0"/>
              <a:t>VM</a:t>
            </a:r>
            <a:r>
              <a:rPr kumimoji="1" lang="en-GB" altLang="zh-CN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7045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So,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en-GB" altLang="zh-CN" dirty="0"/>
              <a:t>s the number</a:t>
            </a:r>
            <a:r>
              <a:rPr kumimoji="1" lang="zh-CN" altLang="en-US" dirty="0"/>
              <a:t> </a:t>
            </a:r>
            <a:r>
              <a:rPr kumimoji="1" lang="en-GB" altLang="zh-CN" dirty="0"/>
              <a:t>of interacting </a:t>
            </a:r>
            <a:r>
              <a:rPr kumimoji="1" lang="en-US" altLang="zh-CN" dirty="0"/>
              <a:t>services</a:t>
            </a:r>
            <a:r>
              <a:rPr kumimoji="1" lang="en-GB" altLang="zh-CN" dirty="0"/>
              <a:t> grow, changes such as code updates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GB" altLang="zh-CN" dirty="0"/>
              <a:t>configuration changes or load shifts in one service can</a:t>
            </a:r>
            <a:r>
              <a:rPr kumimoji="1" lang="zh-CN" altLang="en-US" dirty="0"/>
              <a:t> </a:t>
            </a:r>
            <a:r>
              <a:rPr kumimoji="1" lang="en-GB" altLang="zh-CN" dirty="0"/>
              <a:t>lead</a:t>
            </a:r>
            <a:r>
              <a:rPr kumimoji="1" lang="zh-CN" altLang="en-US" dirty="0"/>
              <a:t> </a:t>
            </a:r>
            <a:r>
              <a:rPr kumimoji="1" lang="en-GB" altLang="zh-CN" dirty="0"/>
              <a:t>to subtle interaction and trigger unexpected behavior in other</a:t>
            </a:r>
            <a:r>
              <a:rPr kumimoji="1" lang="zh-CN" altLang="en-US" dirty="0"/>
              <a:t> </a:t>
            </a:r>
            <a:r>
              <a:rPr kumimoji="1" lang="en-GB" altLang="zh-CN" dirty="0" err="1"/>
              <a:t>servic</a:t>
            </a:r>
            <a:r>
              <a:rPr kumimoji="1" lang="en-US" altLang="zh-CN" dirty="0"/>
              <a:t>es.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unexpected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relationship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cause</a:t>
            </a:r>
            <a:r>
              <a:rPr kumimoji="1" lang="zh-CN" altLang="en-US" dirty="0"/>
              <a:t> </a:t>
            </a:r>
            <a:r>
              <a:rPr lang="en-GB" altLang="zh-CN" b="0" i="0" u="none" strike="noStrike" dirty="0">
                <a:solidFill>
                  <a:srgbClr val="B0B4C7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catastrophic</a:t>
            </a:r>
            <a:r>
              <a:rPr lang="zh-CN" altLang="en-US" b="0" i="0" u="none" strike="noStrike" dirty="0">
                <a:solidFill>
                  <a:srgbClr val="B0B4C7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0" i="0" u="none" strike="noStrike" dirty="0">
                <a:solidFill>
                  <a:srgbClr val="B0B4C7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consequence.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5071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1" dirty="0"/>
              <a:t>There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are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many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outages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caused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by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complex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service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interaction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occur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in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real-world.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Also,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recent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study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shows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that</a:t>
            </a:r>
            <a:r>
              <a:rPr kumimoji="1" lang="zh-CN" altLang="en-US" sz="1200" b="1" dirty="0"/>
              <a:t> </a:t>
            </a:r>
            <a:r>
              <a:rPr kumimoji="1" lang="en-GB" altLang="zh-CN" sz="1200" b="1" dirty="0"/>
              <a:t>cloud system reliability is affected not only by</a:t>
            </a:r>
            <a:r>
              <a:rPr kumimoji="1" lang="zh-CN" altLang="en-US" sz="1200" b="1" dirty="0"/>
              <a:t> </a:t>
            </a:r>
            <a:r>
              <a:rPr kumimoji="1" lang="en-GB" altLang="zh-CN" sz="1200" b="1" dirty="0"/>
              <a:t>the reliability of each individual system, but also by</a:t>
            </a:r>
            <a:r>
              <a:rPr kumimoji="1" lang="zh-CN" altLang="en-US" sz="1200" b="1" dirty="0"/>
              <a:t> </a:t>
            </a:r>
            <a:r>
              <a:rPr kumimoji="1" lang="en-GB" altLang="zh-CN" sz="1200" b="1" dirty="0"/>
              <a:t>the</a:t>
            </a:r>
            <a:r>
              <a:rPr kumimoji="1" lang="zh-CN" altLang="en-US" sz="1200" b="1" dirty="0"/>
              <a:t> </a:t>
            </a:r>
            <a:r>
              <a:rPr kumimoji="1" lang="en-GB" altLang="zh-CN" sz="1200" b="1" dirty="0"/>
              <a:t>interplay between </a:t>
            </a:r>
            <a:r>
              <a:rPr kumimoji="1" lang="en-US" altLang="zh-CN" sz="1200" b="1" dirty="0"/>
              <a:t>services.</a:t>
            </a:r>
            <a:r>
              <a:rPr kumimoji="1" lang="zh-CN" altLang="en-US" sz="1200" b="1" dirty="0"/>
              <a:t> </a:t>
            </a:r>
            <a:r>
              <a:rPr kumimoji="1" lang="en-US" altLang="zh-CN" sz="1200" b="0" dirty="0">
                <a:solidFill>
                  <a:schemeClr val="tx1"/>
                </a:solidFill>
              </a:rPr>
              <a:t>Based</a:t>
            </a:r>
            <a:r>
              <a:rPr kumimoji="1" lang="zh-CN" altLang="en-US" sz="12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200" b="0" dirty="0">
                <a:solidFill>
                  <a:schemeClr val="tx1"/>
                </a:solidFill>
              </a:rPr>
              <a:t>on</a:t>
            </a:r>
            <a:r>
              <a:rPr kumimoji="1" lang="zh-CN" altLang="en-US" sz="12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200" b="0" dirty="0">
                <a:solidFill>
                  <a:schemeClr val="tx1"/>
                </a:solidFill>
              </a:rPr>
              <a:t>that,</a:t>
            </a:r>
            <a:r>
              <a:rPr kumimoji="1" lang="zh-CN" altLang="en-US" sz="12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200" b="1" dirty="0">
                <a:solidFill>
                  <a:schemeClr val="tx1"/>
                </a:solidFill>
              </a:rPr>
              <a:t>t</a:t>
            </a:r>
            <a:r>
              <a:rPr kumimoji="1" lang="en-US" altLang="zh-CN" sz="1200" b="1" dirty="0"/>
              <a:t>here is a pressing need for modern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cloud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system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to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enhance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monitoring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metrics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or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traces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for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fault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diagnosis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or</a:t>
            </a:r>
            <a:r>
              <a:rPr kumimoji="1" lang="zh-CN" altLang="en-US" sz="1200" b="1" dirty="0"/>
              <a:t> </a:t>
            </a:r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incident investigations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2211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approaches to dependency mapping rely on static configuration files, manual documentation, or instrumented distributed tracing. However, these methods have significant limitations: configuration files drift from reality, documentation requires constant maintenance, and tracing instrumentation may be incomplete or unavailable in modern cloud systems.</a:t>
            </a:r>
            <a:endParaRPr lang="en-GB" altLang="zh-CN" b="0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A5DA7-CC6F-7740-84FD-04270A106C35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1047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Actually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today’s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modern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sufficient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monitoring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lang="en-GB" altLang="zh-CN" dirty="0"/>
              <a:t>preserve context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 </a:t>
            </a:r>
            <a:r>
              <a:rPr kumimoji="1" lang="en-US" altLang="zh-CN" dirty="0"/>
              <a:t>issue’s</a:t>
            </a:r>
            <a:r>
              <a:rPr kumimoji="1" lang="zh-CN" altLang="en-US" dirty="0"/>
              <a:t> 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system.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Let’s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see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dependency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scatter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660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analyzing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kernel/system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evidence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showing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relationship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developers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analyze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log</a:t>
            </a:r>
            <a:r>
              <a:rPr lang="zh-CN" altLang="en-US" dirty="0"/>
              <a:t> </a:t>
            </a:r>
            <a:r>
              <a:rPr lang="en-US" altLang="zh-CN" dirty="0"/>
              <a:t>context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service</a:t>
            </a:r>
            <a:r>
              <a:rPr lang="zh-CN" altLang="en-US" dirty="0"/>
              <a:t> </a:t>
            </a:r>
            <a:r>
              <a:rPr lang="en-US" altLang="zh-CN" dirty="0"/>
              <a:t>dependency.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0319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cloudX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confirming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becomes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team-by-team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effort,</a:t>
            </a:r>
            <a:r>
              <a:rPr kumimoji="1" lang="zh-CN" altLang="en-US" dirty="0"/>
              <a:t> </a:t>
            </a:r>
            <a:r>
              <a:rPr lang="en-GB" altLang="zh-CN" dirty="0"/>
              <a:t>where each team inspects their own services</a:t>
            </a:r>
            <a:r>
              <a:rPr lang="zh-CN" altLang="en-US" dirty="0"/>
              <a:t> </a:t>
            </a:r>
            <a:r>
              <a:rPr lang="en-US" altLang="zh-CN" dirty="0"/>
              <a:t>behavior</a:t>
            </a:r>
            <a:r>
              <a:rPr lang="zh-CN" altLang="en-US" dirty="0"/>
              <a:t> </a:t>
            </a:r>
            <a:r>
              <a:rPr lang="en-GB" altLang="zh-CN" dirty="0"/>
              <a:t>independently,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en-GB" altLang="zh-CN" dirty="0"/>
              <a:t> is time-consuming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ask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possible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logs?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6421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is: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rich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hints,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every service produces logs that contain implicit signals about inter-service communication: HTTP requests, RPC calls, database queries, and message queue interactions.</a:t>
            </a:r>
            <a:endParaRPr kumimoji="1" lang="en-US" altLang="zh-CN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4401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involved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performance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issue.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challenge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is: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en-GB" altLang="zh-CN" dirty="0" err="1"/>
              <a:t>ccurately</a:t>
            </a:r>
            <a:r>
              <a:rPr kumimoji="1" lang="zh-CN" altLang="en-US" dirty="0"/>
              <a:t> </a:t>
            </a:r>
            <a:r>
              <a:rPr kumimoji="1" lang="en-GB" altLang="zh-CN" dirty="0"/>
              <a:t>reconstruct this hidden interaction from noisy text without</a:t>
            </a:r>
            <a:r>
              <a:rPr kumimoji="1" lang="zh-CN" altLang="en-US" dirty="0"/>
              <a:t> </a:t>
            </a:r>
            <a:r>
              <a:rPr kumimoji="1" lang="en-GB" altLang="zh-CN" dirty="0"/>
              <a:t>requiring domain-specific instrumentation for every new service.</a:t>
            </a:r>
          </a:p>
          <a:p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GB" altLang="zh-CN" dirty="0"/>
              <a:t>employs an agent-based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</a:t>
            </a:r>
            <a:r>
              <a:rPr kumimoji="1" lang="en-GB" altLang="zh-CN" dirty="0" err="1"/>
              <a:t>nteraction</a:t>
            </a:r>
            <a:r>
              <a:rPr kumimoji="1" lang="en-GB" altLang="zh-CN" dirty="0"/>
              <a:t> </a:t>
            </a:r>
            <a:r>
              <a:rPr kumimoji="1" lang="en-US" altLang="zh-CN" dirty="0"/>
              <a:t>e</a:t>
            </a:r>
            <a:r>
              <a:rPr kumimoji="1" lang="en-GB" altLang="zh-CN" dirty="0" err="1"/>
              <a:t>xtractor</a:t>
            </a:r>
            <a:r>
              <a:rPr kumimoji="1" lang="en-GB" altLang="zh-CN" dirty="0"/>
              <a:t> to infer interactions between applications</a:t>
            </a:r>
            <a:r>
              <a:rPr kumimoji="1" lang="zh-CN" altLang="en-US" dirty="0"/>
              <a:t> </a:t>
            </a:r>
            <a:r>
              <a:rPr kumimoji="1" lang="en-GB" altLang="zh-CN" dirty="0"/>
              <a:t>using logs and traces outputted from the Lightweight Anomaly</a:t>
            </a:r>
            <a:r>
              <a:rPr kumimoji="1" lang="zh-CN" altLang="en-US" dirty="0"/>
              <a:t> </a:t>
            </a:r>
            <a:r>
              <a:rPr kumimoji="1" lang="en-GB" altLang="zh-CN" dirty="0"/>
              <a:t>Detector.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output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tuple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means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type:</a:t>
            </a:r>
            <a:r>
              <a:rPr kumimoji="1" lang="zh-CN" altLang="en-US" dirty="0"/>
              <a:t> </a:t>
            </a:r>
            <a:r>
              <a:rPr kumimoji="1" lang="en-US" altLang="zh-CN" dirty="0"/>
              <a:t>(see</a:t>
            </a:r>
            <a:r>
              <a:rPr kumimoji="1" lang="zh-CN" altLang="en-US" dirty="0"/>
              <a:t> </a:t>
            </a:r>
            <a:r>
              <a:rPr kumimoji="1" lang="en-US" altLang="zh-CN" dirty="0"/>
              <a:t>slides)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7668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51C1-9100-85A2-1790-3775D4BA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D66B44-0087-B501-2E88-DBE1124B7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800C92-2103-EDC5-0A1C-8A6967538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DA4A2-EFE2-7D99-2278-BAE418A37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469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816CD-8BD2-9EE8-5190-EDCE8F885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CC79FD-2A36-EFE6-DE47-D7B7FFE0B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9D9C0-36E8-2DD0-C5AB-FDE3BE775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158E5-7BAF-6500-5027-7AF32BCA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CB77CE-6243-3392-9D3F-D49D2AF1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8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ECD8A-8C1A-C6ED-F17E-A89FC342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271F8B-7008-E5C0-4A6B-09635C57D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D72AD1-6CE9-9364-DCE4-C2C29938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1FB393-4F5D-837D-69E5-FAD3C4B6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2EBB5-2C36-D889-E906-8A3AF950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35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DF96C-6F54-4C5A-6376-E43203AC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8F630C-BF45-B1A6-C2ED-305C0071A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AB7F9-879A-4F17-F1C1-A1CA720F5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FC9964-C690-8BCD-0B45-9A228F17C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97F3CD-1F93-F36B-2921-6680B82F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22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22BFD-F5EE-F0E4-94E7-A9C0AF53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485249-79A5-C7E8-9776-E3FE04331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5C67EF-3541-62C2-9B63-28EAF8498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A1FA1F-2094-1CCD-0EFF-CB6039CD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43FE9F-E075-0076-D8BD-D5E511DD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FCC207-6A9B-3DF9-0190-20FE9E52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806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6C272-B8D1-D25F-8088-1F14745C2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71CBF4-24C0-94BB-1F41-0DE05912F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721E2B-FAB0-DFF8-A8C0-FC0448BCF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283330-805B-3FF6-0D6C-98864436C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CC04FE-36E2-2D8B-0E15-04A1D6E6D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5CE695-B23B-8A36-F7A2-FC94C7B8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EB9DC1-AA4F-9D49-7D44-320F57FF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5093B4-E3BB-8108-6C1E-26485425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697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F10F3-2ACB-56E7-A7FC-E4E52FA3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FE034C-8704-C741-D753-AE18955D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CE2B6C-628D-ECAE-A219-2DF6135A7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6DFB78-08FB-8227-B95B-337E7663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524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F28946-AAD0-3188-9952-E6AEAC47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B6F430-B6E3-CCBE-CBE0-E33F95BA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ECB461-1F2B-C133-35BE-EE19364A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238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C35E4-ECD8-417D-3D74-D48E837AB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96748-E1B6-6BFB-1DEE-37B8D86EE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9242A2-1D9C-6AAA-C1CE-742A34C6C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398644-E5EF-5A58-0F10-B73B1988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B4D202-D2DA-3CAC-9F28-2A9FC97E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36F911-B812-959A-56EB-C4F8720F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887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D24F4-C2F0-45D5-3187-01F4DC56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7A51AA-E54E-CA7B-DC87-93C6B0A52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B3FA0A-E7AC-D5D7-71B9-0B0738B9E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21166-06A3-F13B-4FBE-843CF5B0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5CD2A4-3028-D496-908A-752454F0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C7FB12-ABFD-7C50-586B-5E801005D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621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8E335-6E86-BF10-38D9-FC74A2FB4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F892B9-6B40-792F-3092-26D598672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FA4E0A-FD9C-43B5-55AB-5633BB47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09CDB8-058B-D01F-AFF7-A3C17CD7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582A4D-0B2D-BE06-7152-C1150A58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5293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F684B1-E35E-9C93-5EF5-BCEDA3CE1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8201BC-2987-35E6-1385-2CF1C2C90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128246-BB90-1153-F909-724689FF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4A369C-D69C-0A03-E5A9-2ACEE1BD0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31BE6-07B6-5B0B-BE68-BAE02625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553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220BC3-9930-B3BD-9047-B1B28206E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8D3FA5-A9B3-A589-20C9-4F5A02933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B540AF-BC0B-EFF5-9C8B-B891ACFAC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EFB1E-053C-1F44-BEBA-E36FD6E4D569}" type="datetimeFigureOut">
              <a:rPr kumimoji="1" lang="zh-CN" altLang="en-US" smtClean="0"/>
              <a:t>2026/2/24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72CCF3-2344-3564-91F3-E40358BF1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FAFB6-1DFC-7A52-97B1-4C601AB7D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788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A13223F-A5D2-B15F-CB07-EE7986C658EA}"/>
              </a:ext>
            </a:extLst>
          </p:cNvPr>
          <p:cNvSpPr txBox="1"/>
          <p:nvPr/>
        </p:nvSpPr>
        <p:spPr>
          <a:xfrm>
            <a:off x="1018703" y="2049882"/>
            <a:ext cx="101545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Distributed Services Dependency </a:t>
            </a:r>
            <a:r>
              <a:rPr lang="en-GB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Discovery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 from Log</a:t>
            </a:r>
            <a:endParaRPr lang="en-GB" altLang="zh-CN" sz="40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1C9D0A-5C52-CACD-2C31-FAA0AC6287FE}"/>
              </a:ext>
            </a:extLst>
          </p:cNvPr>
          <p:cNvSpPr txBox="1"/>
          <p:nvPr/>
        </p:nvSpPr>
        <p:spPr>
          <a:xfrm>
            <a:off x="2782465" y="3976500"/>
            <a:ext cx="6627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GB" altLang="zh-CN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Proposer: Wenbo Qian</a:t>
            </a:r>
            <a:endParaRPr lang="en-GB" altLang="zh-CN" sz="24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>
              <a:buNone/>
            </a:pPr>
            <a:r>
              <a:rPr lang="en-GB" altLang="zh-CN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Mentors: Alison Yao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32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E242C0-F103-322A-8019-B42ACABCBFDA}"/>
              </a:ext>
            </a:extLst>
          </p:cNvPr>
          <p:cNvSpPr txBox="1"/>
          <p:nvPr/>
        </p:nvSpPr>
        <p:spPr>
          <a:xfrm>
            <a:off x="729090" y="783008"/>
            <a:ext cx="10733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D3409D5-03B0-F53C-4A22-2ABD177E3D35}"/>
              </a:ext>
            </a:extLst>
          </p:cNvPr>
          <p:cNvSpPr txBox="1"/>
          <p:nvPr/>
        </p:nvSpPr>
        <p:spPr>
          <a:xfrm>
            <a:off x="1654580" y="5654772"/>
            <a:ext cx="8882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Creating a VM in produ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ction</a:t>
            </a:r>
            <a:r>
              <a:rPr lang="zh-CN" altLang="en-US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zh-CN" alt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698EF9E-C5B7-58EF-4818-820A8D294011}"/>
              </a:ext>
            </a:extLst>
          </p:cNvPr>
          <p:cNvSpPr/>
          <p:nvPr/>
        </p:nvSpPr>
        <p:spPr>
          <a:xfrm>
            <a:off x="2498923" y="3226291"/>
            <a:ext cx="2142103" cy="936861"/>
          </a:xfrm>
          <a:prstGeom prst="roundRect">
            <a:avLst/>
          </a:prstGeom>
          <a:solidFill>
            <a:srgbClr val="0070C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0AC2D36-F9F7-0953-5353-E99713A49C87}"/>
              </a:ext>
            </a:extLst>
          </p:cNvPr>
          <p:cNvSpPr/>
          <p:nvPr/>
        </p:nvSpPr>
        <p:spPr>
          <a:xfrm>
            <a:off x="6736141" y="2105190"/>
            <a:ext cx="2393512" cy="831657"/>
          </a:xfrm>
          <a:prstGeom prst="roundRect">
            <a:avLst/>
          </a:prstGeom>
          <a:solidFill>
            <a:srgbClr val="00B05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C78EF502-2DC9-E538-A0A2-949A21DECAAA}"/>
              </a:ext>
            </a:extLst>
          </p:cNvPr>
          <p:cNvCxnSpPr>
            <a:cxnSpLocks/>
          </p:cNvCxnSpPr>
          <p:nvPr/>
        </p:nvCxnSpPr>
        <p:spPr>
          <a:xfrm flipV="1">
            <a:off x="4880719" y="2796988"/>
            <a:ext cx="1615729" cy="550957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D38E6CF-E46E-2232-C629-FD2C0A08525B}"/>
              </a:ext>
            </a:extLst>
          </p:cNvPr>
          <p:cNvSpPr txBox="1"/>
          <p:nvPr/>
        </p:nvSpPr>
        <p:spPr>
          <a:xfrm>
            <a:off x="4247114" y="2150330"/>
            <a:ext cx="2249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36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2D3409D5-03B0-F53C-4A22-2ABD177E3D35}"/>
              </a:ext>
            </a:extLst>
          </p:cNvPr>
          <p:cNvSpPr txBox="1"/>
          <p:nvPr/>
        </p:nvSpPr>
        <p:spPr>
          <a:xfrm>
            <a:off x="1654580" y="5797182"/>
            <a:ext cx="8882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Creating a VM in produ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ction</a:t>
            </a:r>
            <a:r>
              <a:rPr lang="zh-CN" altLang="en-US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zh-CN" alt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698EF9E-C5B7-58EF-4818-820A8D294011}"/>
              </a:ext>
            </a:extLst>
          </p:cNvPr>
          <p:cNvSpPr/>
          <p:nvPr/>
        </p:nvSpPr>
        <p:spPr>
          <a:xfrm>
            <a:off x="2445134" y="3117817"/>
            <a:ext cx="2142103" cy="936861"/>
          </a:xfrm>
          <a:prstGeom prst="roundRect">
            <a:avLst/>
          </a:prstGeom>
          <a:solidFill>
            <a:srgbClr val="0070C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0AC2D36-F9F7-0953-5353-E99713A49C87}"/>
              </a:ext>
            </a:extLst>
          </p:cNvPr>
          <p:cNvSpPr/>
          <p:nvPr/>
        </p:nvSpPr>
        <p:spPr>
          <a:xfrm>
            <a:off x="6682352" y="1996716"/>
            <a:ext cx="2393512" cy="831657"/>
          </a:xfrm>
          <a:prstGeom prst="roundRect">
            <a:avLst/>
          </a:prstGeom>
          <a:solidFill>
            <a:srgbClr val="00B05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C78EF502-2DC9-E538-A0A2-949A21DECAAA}"/>
              </a:ext>
            </a:extLst>
          </p:cNvPr>
          <p:cNvCxnSpPr>
            <a:cxnSpLocks/>
          </p:cNvCxnSpPr>
          <p:nvPr/>
        </p:nvCxnSpPr>
        <p:spPr>
          <a:xfrm flipV="1">
            <a:off x="4826930" y="2688514"/>
            <a:ext cx="1615729" cy="550957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D38E6CF-E46E-2232-C629-FD2C0A08525B}"/>
              </a:ext>
            </a:extLst>
          </p:cNvPr>
          <p:cNvSpPr txBox="1"/>
          <p:nvPr/>
        </p:nvSpPr>
        <p:spPr>
          <a:xfrm>
            <a:off x="4193325" y="2041856"/>
            <a:ext cx="2249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4476563-623D-BA9C-FA24-0CE040D60ADB}"/>
              </a:ext>
            </a:extLst>
          </p:cNvPr>
          <p:cNvSpPr/>
          <p:nvPr/>
        </p:nvSpPr>
        <p:spPr>
          <a:xfrm>
            <a:off x="6682352" y="3377309"/>
            <a:ext cx="2393512" cy="780002"/>
          </a:xfrm>
          <a:prstGeom prst="roundRect">
            <a:avLst/>
          </a:prstGeom>
          <a:solidFill>
            <a:schemeClr val="accent4">
              <a:alpha val="57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0D9CBC8-F800-F110-C707-2B1BDEC0D7E2}"/>
              </a:ext>
            </a:extLst>
          </p:cNvPr>
          <p:cNvCxnSpPr>
            <a:cxnSpLocks/>
          </p:cNvCxnSpPr>
          <p:nvPr/>
        </p:nvCxnSpPr>
        <p:spPr>
          <a:xfrm>
            <a:off x="4847429" y="3753572"/>
            <a:ext cx="1595230" cy="13738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2F1CB5D-D090-DA30-700F-18B870419087}"/>
              </a:ext>
            </a:extLst>
          </p:cNvPr>
          <p:cNvSpPr txBox="1"/>
          <p:nvPr/>
        </p:nvSpPr>
        <p:spPr>
          <a:xfrm>
            <a:off x="4405348" y="4295148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5E84AF-6A9B-1CB9-B664-FC075EC26260}"/>
              </a:ext>
            </a:extLst>
          </p:cNvPr>
          <p:cNvSpPr txBox="1"/>
          <p:nvPr/>
        </p:nvSpPr>
        <p:spPr>
          <a:xfrm>
            <a:off x="729090" y="783008"/>
            <a:ext cx="10733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30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2D3409D5-03B0-F53C-4A22-2ABD177E3D35}"/>
              </a:ext>
            </a:extLst>
          </p:cNvPr>
          <p:cNvSpPr txBox="1"/>
          <p:nvPr/>
        </p:nvSpPr>
        <p:spPr>
          <a:xfrm>
            <a:off x="1654580" y="5812490"/>
            <a:ext cx="8882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Creating a VM in produ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ction</a:t>
            </a:r>
            <a:r>
              <a:rPr lang="zh-CN" altLang="en-US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zh-CN" alt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698EF9E-C5B7-58EF-4818-820A8D294011}"/>
              </a:ext>
            </a:extLst>
          </p:cNvPr>
          <p:cNvSpPr/>
          <p:nvPr/>
        </p:nvSpPr>
        <p:spPr>
          <a:xfrm>
            <a:off x="2445134" y="3117817"/>
            <a:ext cx="2142103" cy="936861"/>
          </a:xfrm>
          <a:prstGeom prst="roundRect">
            <a:avLst/>
          </a:prstGeom>
          <a:solidFill>
            <a:srgbClr val="0070C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0AC2D36-F9F7-0953-5353-E99713A49C87}"/>
              </a:ext>
            </a:extLst>
          </p:cNvPr>
          <p:cNvSpPr/>
          <p:nvPr/>
        </p:nvSpPr>
        <p:spPr>
          <a:xfrm>
            <a:off x="6682352" y="1996716"/>
            <a:ext cx="2393512" cy="831657"/>
          </a:xfrm>
          <a:prstGeom prst="roundRect">
            <a:avLst/>
          </a:prstGeom>
          <a:solidFill>
            <a:srgbClr val="00B05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C78EF502-2DC9-E538-A0A2-949A21DECAAA}"/>
              </a:ext>
            </a:extLst>
          </p:cNvPr>
          <p:cNvCxnSpPr>
            <a:cxnSpLocks/>
          </p:cNvCxnSpPr>
          <p:nvPr/>
        </p:nvCxnSpPr>
        <p:spPr>
          <a:xfrm flipV="1">
            <a:off x="4826930" y="2688514"/>
            <a:ext cx="1615729" cy="550957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D38E6CF-E46E-2232-C629-FD2C0A08525B}"/>
              </a:ext>
            </a:extLst>
          </p:cNvPr>
          <p:cNvSpPr txBox="1"/>
          <p:nvPr/>
        </p:nvSpPr>
        <p:spPr>
          <a:xfrm>
            <a:off x="4193325" y="2041856"/>
            <a:ext cx="2249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4476563-623D-BA9C-FA24-0CE040D60ADB}"/>
              </a:ext>
            </a:extLst>
          </p:cNvPr>
          <p:cNvSpPr/>
          <p:nvPr/>
        </p:nvSpPr>
        <p:spPr>
          <a:xfrm>
            <a:off x="6682352" y="3377309"/>
            <a:ext cx="2393512" cy="780002"/>
          </a:xfrm>
          <a:prstGeom prst="roundRect">
            <a:avLst/>
          </a:prstGeom>
          <a:solidFill>
            <a:schemeClr val="accent4">
              <a:alpha val="57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0D9CBC8-F800-F110-C707-2B1BDEC0D7E2}"/>
              </a:ext>
            </a:extLst>
          </p:cNvPr>
          <p:cNvCxnSpPr>
            <a:cxnSpLocks/>
          </p:cNvCxnSpPr>
          <p:nvPr/>
        </p:nvCxnSpPr>
        <p:spPr>
          <a:xfrm>
            <a:off x="4847429" y="3753572"/>
            <a:ext cx="1595230" cy="31927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2F1CB5D-D090-DA30-700F-18B870419087}"/>
              </a:ext>
            </a:extLst>
          </p:cNvPr>
          <p:cNvSpPr txBox="1"/>
          <p:nvPr/>
        </p:nvSpPr>
        <p:spPr>
          <a:xfrm>
            <a:off x="4587237" y="4021192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E774272-F932-16F4-F8C4-EC71B84AC1B1}"/>
              </a:ext>
            </a:extLst>
          </p:cNvPr>
          <p:cNvSpPr/>
          <p:nvPr/>
        </p:nvSpPr>
        <p:spPr>
          <a:xfrm>
            <a:off x="6682352" y="4905227"/>
            <a:ext cx="2420826" cy="718702"/>
          </a:xfrm>
          <a:prstGeom prst="roundRect">
            <a:avLst/>
          </a:prstGeom>
          <a:solidFill>
            <a:srgbClr val="C0000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Scheduling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E02F243C-3463-E286-B58D-042B55935BB3}"/>
              </a:ext>
            </a:extLst>
          </p:cNvPr>
          <p:cNvCxnSpPr>
            <a:cxnSpLocks/>
          </p:cNvCxnSpPr>
          <p:nvPr/>
        </p:nvCxnSpPr>
        <p:spPr>
          <a:xfrm>
            <a:off x="4875116" y="4596036"/>
            <a:ext cx="1436037" cy="707134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3AEE14F-8937-DCE5-F0E8-14B01599C6DC}"/>
              </a:ext>
            </a:extLst>
          </p:cNvPr>
          <p:cNvSpPr txBox="1"/>
          <p:nvPr/>
        </p:nvSpPr>
        <p:spPr>
          <a:xfrm>
            <a:off x="3598789" y="5072337"/>
            <a:ext cx="2305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VM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BD3B6E-50FE-8A6B-1039-636DB311C27E}"/>
              </a:ext>
            </a:extLst>
          </p:cNvPr>
          <p:cNvSpPr txBox="1"/>
          <p:nvPr/>
        </p:nvSpPr>
        <p:spPr>
          <a:xfrm>
            <a:off x="729090" y="783008"/>
            <a:ext cx="10733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94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95" name="直线箭头连接符 32794">
            <a:extLst>
              <a:ext uri="{FF2B5EF4-FFF2-40B4-BE49-F238E27FC236}">
                <a16:creationId xmlns:a16="http://schemas.microsoft.com/office/drawing/2014/main" id="{9BA507B6-3596-3CFB-7ADC-2154B7E960E7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5757503" y="3156820"/>
            <a:ext cx="6860" cy="2268945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698EF9E-C5B7-58EF-4818-820A8D294011}"/>
              </a:ext>
            </a:extLst>
          </p:cNvPr>
          <p:cNvSpPr/>
          <p:nvPr/>
        </p:nvSpPr>
        <p:spPr>
          <a:xfrm>
            <a:off x="326692" y="1841590"/>
            <a:ext cx="2142103" cy="936861"/>
          </a:xfrm>
          <a:prstGeom prst="roundRect">
            <a:avLst/>
          </a:prstGeom>
          <a:solidFill>
            <a:srgbClr val="0070C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0AC2D36-F9F7-0953-5353-E99713A49C87}"/>
              </a:ext>
            </a:extLst>
          </p:cNvPr>
          <p:cNvSpPr/>
          <p:nvPr/>
        </p:nvSpPr>
        <p:spPr>
          <a:xfrm>
            <a:off x="4405970" y="571513"/>
            <a:ext cx="2393512" cy="831657"/>
          </a:xfrm>
          <a:prstGeom prst="roundRect">
            <a:avLst/>
          </a:prstGeom>
          <a:solidFill>
            <a:srgbClr val="00B05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496CACC8-EB77-3588-B6B6-7061BC8CB8D6}"/>
              </a:ext>
            </a:extLst>
          </p:cNvPr>
          <p:cNvSpPr/>
          <p:nvPr/>
        </p:nvSpPr>
        <p:spPr>
          <a:xfrm>
            <a:off x="4425879" y="1869909"/>
            <a:ext cx="2393512" cy="780002"/>
          </a:xfrm>
          <a:prstGeom prst="roundRect">
            <a:avLst/>
          </a:prstGeom>
          <a:solidFill>
            <a:schemeClr val="accent4">
              <a:alpha val="57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FF7E3CB-5114-589E-EEE3-ADDC2DE56044}"/>
              </a:ext>
            </a:extLst>
          </p:cNvPr>
          <p:cNvSpPr/>
          <p:nvPr/>
        </p:nvSpPr>
        <p:spPr>
          <a:xfrm>
            <a:off x="4442865" y="3314393"/>
            <a:ext cx="2420826" cy="887192"/>
          </a:xfrm>
          <a:prstGeom prst="roundRect">
            <a:avLst/>
          </a:prstGeom>
          <a:solidFill>
            <a:srgbClr val="C0000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Scheduling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968EBB79-0CAA-0BA1-4E0B-72F02258F533}"/>
              </a:ext>
            </a:extLst>
          </p:cNvPr>
          <p:cNvSpPr/>
          <p:nvPr/>
        </p:nvSpPr>
        <p:spPr>
          <a:xfrm>
            <a:off x="7745551" y="2665246"/>
            <a:ext cx="1924656" cy="831656"/>
          </a:xfrm>
          <a:prstGeom prst="roundRect">
            <a:avLst/>
          </a:prstGeom>
          <a:solidFill>
            <a:srgbClr val="7030A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36F35F8-868F-F623-FEB1-0A9F17A3CED9}"/>
              </a:ext>
            </a:extLst>
          </p:cNvPr>
          <p:cNvSpPr/>
          <p:nvPr/>
        </p:nvSpPr>
        <p:spPr>
          <a:xfrm>
            <a:off x="7745551" y="1383663"/>
            <a:ext cx="1924656" cy="831656"/>
          </a:xfrm>
          <a:prstGeom prst="roundRect">
            <a:avLst/>
          </a:prstGeom>
          <a:solidFill>
            <a:srgbClr val="FF2F92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</a:p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endParaRPr kumimoji="1"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3CD6BC44-BB49-0FFE-AB34-2595BA2CC260}"/>
              </a:ext>
            </a:extLst>
          </p:cNvPr>
          <p:cNvSpPr/>
          <p:nvPr/>
        </p:nvSpPr>
        <p:spPr>
          <a:xfrm>
            <a:off x="10349558" y="2099249"/>
            <a:ext cx="1669224" cy="718702"/>
          </a:xfrm>
          <a:prstGeom prst="roundRect">
            <a:avLst/>
          </a:prstGeom>
          <a:solidFill>
            <a:schemeClr val="accent2">
              <a:alpha val="57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more…</a:t>
            </a:r>
            <a:endParaRPr kumimoji="1"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2FEFB94-7497-D756-39AA-32F86D268775}"/>
              </a:ext>
            </a:extLst>
          </p:cNvPr>
          <p:cNvCxnSpPr>
            <a:cxnSpLocks/>
          </p:cNvCxnSpPr>
          <p:nvPr/>
        </p:nvCxnSpPr>
        <p:spPr>
          <a:xfrm flipH="1">
            <a:off x="5921075" y="4223387"/>
            <a:ext cx="1428707" cy="1132677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31A7F2DB-F87D-A676-A674-23A7038CC33B}"/>
              </a:ext>
            </a:extLst>
          </p:cNvPr>
          <p:cNvCxnSpPr>
            <a:cxnSpLocks/>
          </p:cNvCxnSpPr>
          <p:nvPr/>
        </p:nvCxnSpPr>
        <p:spPr>
          <a:xfrm>
            <a:off x="4536388" y="4414998"/>
            <a:ext cx="970487" cy="941066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2FDC922-0DF3-6C79-338A-2474B841584C}"/>
              </a:ext>
            </a:extLst>
          </p:cNvPr>
          <p:cNvCxnSpPr>
            <a:cxnSpLocks/>
          </p:cNvCxnSpPr>
          <p:nvPr/>
        </p:nvCxnSpPr>
        <p:spPr>
          <a:xfrm>
            <a:off x="6863691" y="1089587"/>
            <a:ext cx="800107" cy="51028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4DA46AA-BE29-7225-F084-90B57AF5D5EB}"/>
              </a:ext>
            </a:extLst>
          </p:cNvPr>
          <p:cNvCxnSpPr>
            <a:cxnSpLocks/>
          </p:cNvCxnSpPr>
          <p:nvPr/>
        </p:nvCxnSpPr>
        <p:spPr>
          <a:xfrm flipV="1">
            <a:off x="6938592" y="1715072"/>
            <a:ext cx="782563" cy="5002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F9DFC09-7AF3-12D9-E5AC-B40BDCAA8B53}"/>
              </a:ext>
            </a:extLst>
          </p:cNvPr>
          <p:cNvCxnSpPr>
            <a:cxnSpLocks/>
          </p:cNvCxnSpPr>
          <p:nvPr/>
        </p:nvCxnSpPr>
        <p:spPr>
          <a:xfrm>
            <a:off x="6978410" y="2471747"/>
            <a:ext cx="742745" cy="5826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D5E718E-0087-01AB-8C94-1677FFC88E41}"/>
              </a:ext>
            </a:extLst>
          </p:cNvPr>
          <p:cNvCxnSpPr>
            <a:cxnSpLocks/>
          </p:cNvCxnSpPr>
          <p:nvPr/>
        </p:nvCxnSpPr>
        <p:spPr>
          <a:xfrm flipV="1">
            <a:off x="6978410" y="3224354"/>
            <a:ext cx="685388" cy="3360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31F7B1B9-B497-7047-E12B-4AFAF4EBB1DD}"/>
              </a:ext>
            </a:extLst>
          </p:cNvPr>
          <p:cNvCxnSpPr>
            <a:cxnSpLocks/>
          </p:cNvCxnSpPr>
          <p:nvPr/>
        </p:nvCxnSpPr>
        <p:spPr>
          <a:xfrm flipV="1">
            <a:off x="9711953" y="2724248"/>
            <a:ext cx="685388" cy="3360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9D77C9EC-37D8-D82C-795F-8586FFB0F230}"/>
              </a:ext>
            </a:extLst>
          </p:cNvPr>
          <p:cNvCxnSpPr>
            <a:cxnSpLocks/>
          </p:cNvCxnSpPr>
          <p:nvPr/>
        </p:nvCxnSpPr>
        <p:spPr>
          <a:xfrm>
            <a:off x="9688271" y="1799491"/>
            <a:ext cx="552454" cy="346069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772" name="Picture 4" descr="Flexible deployment Vector Icons free download in SVG, PNG Format">
            <a:extLst>
              <a:ext uri="{FF2B5EF4-FFF2-40B4-BE49-F238E27FC236}">
                <a16:creationId xmlns:a16="http://schemas.microsoft.com/office/drawing/2014/main" id="{85D2F0BE-5EE8-D8EF-005D-44D6AC992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239" y="3294206"/>
            <a:ext cx="1222783" cy="1222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8" name="Picture 10" descr="File code icon vector - Free Download (SVG, PNG, EPS, JPG)">
            <a:extLst>
              <a:ext uri="{FF2B5EF4-FFF2-40B4-BE49-F238E27FC236}">
                <a16:creationId xmlns:a16="http://schemas.microsoft.com/office/drawing/2014/main" id="{3F288DC6-689D-2ED1-FAEA-BE0A1DD8C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005" y="3742274"/>
            <a:ext cx="800107" cy="80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FAB7AC69-2F74-C1E2-9EAA-FB27F032A5BC}"/>
              </a:ext>
            </a:extLst>
          </p:cNvPr>
          <p:cNvSpPr txBox="1"/>
          <p:nvPr/>
        </p:nvSpPr>
        <p:spPr>
          <a:xfrm>
            <a:off x="1397743" y="4168567"/>
            <a:ext cx="2584173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endParaRPr kumimoji="1"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13E2B2B-5C2D-7734-FE37-A2AF1E10CA25}"/>
              </a:ext>
            </a:extLst>
          </p:cNvPr>
          <p:cNvSpPr txBox="1"/>
          <p:nvPr/>
        </p:nvSpPr>
        <p:spPr>
          <a:xfrm>
            <a:off x="8378120" y="3908349"/>
            <a:ext cx="2584173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change</a:t>
            </a:r>
            <a:endParaRPr kumimoji="1"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1363DC3C-BC29-F052-DA20-2BA565B72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112" y="2686843"/>
            <a:ext cx="706706" cy="605748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F5645360-D425-4FCB-1712-9D4AFCB41883}"/>
              </a:ext>
            </a:extLst>
          </p:cNvPr>
          <p:cNvSpPr txBox="1"/>
          <p:nvPr/>
        </p:nvSpPr>
        <p:spPr>
          <a:xfrm>
            <a:off x="4753919" y="2695155"/>
            <a:ext cx="200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endParaRPr kumimoji="1"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783" name="直线箭头连接符 32782">
            <a:extLst>
              <a:ext uri="{FF2B5EF4-FFF2-40B4-BE49-F238E27FC236}">
                <a16:creationId xmlns:a16="http://schemas.microsoft.com/office/drawing/2014/main" id="{099938BD-A577-25B0-1639-D5125496E806}"/>
              </a:ext>
            </a:extLst>
          </p:cNvPr>
          <p:cNvCxnSpPr>
            <a:cxnSpLocks/>
          </p:cNvCxnSpPr>
          <p:nvPr/>
        </p:nvCxnSpPr>
        <p:spPr>
          <a:xfrm>
            <a:off x="2627814" y="2649911"/>
            <a:ext cx="1708902" cy="910490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85" name="直线箭头连接符 32784">
            <a:extLst>
              <a:ext uri="{FF2B5EF4-FFF2-40B4-BE49-F238E27FC236}">
                <a16:creationId xmlns:a16="http://schemas.microsoft.com/office/drawing/2014/main" id="{77493D2A-097F-CC58-ECBE-B0459AAA8932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27814" y="987342"/>
            <a:ext cx="1778156" cy="122797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87" name="直线箭头连接符 32786">
            <a:extLst>
              <a:ext uri="{FF2B5EF4-FFF2-40B4-BE49-F238E27FC236}">
                <a16:creationId xmlns:a16="http://schemas.microsoft.com/office/drawing/2014/main" id="{25FD19AC-52A9-4774-EA48-17ACCBAFC3E6}"/>
              </a:ext>
            </a:extLst>
          </p:cNvPr>
          <p:cNvCxnSpPr>
            <a:cxnSpLocks/>
          </p:cNvCxnSpPr>
          <p:nvPr/>
        </p:nvCxnSpPr>
        <p:spPr>
          <a:xfrm>
            <a:off x="2627814" y="2458600"/>
            <a:ext cx="1678864" cy="0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809F8E85-8FC8-03A5-BA84-4DD0850A7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052" y="5356064"/>
            <a:ext cx="1143131" cy="156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97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DEB8FB94-019B-68CD-CC4C-9FC423825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89" y="4255955"/>
            <a:ext cx="4317096" cy="104045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1E242C0-F103-322A-8019-B42ACABCBFDA}"/>
              </a:ext>
            </a:extLst>
          </p:cNvPr>
          <p:cNvSpPr txBox="1"/>
          <p:nvPr/>
        </p:nvSpPr>
        <p:spPr>
          <a:xfrm>
            <a:off x="621396" y="484019"/>
            <a:ext cx="11455482" cy="732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kumimoji="1" lang="zh-CN" altLang="en-US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r>
              <a:rPr kumimoji="1"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real-world</a:t>
            </a:r>
            <a:r>
              <a:rPr kumimoji="1"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kumimoji="1"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kumimoji="1"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B77578-E89A-63DA-CEAA-76EFB489D69F}"/>
              </a:ext>
            </a:extLst>
          </p:cNvPr>
          <p:cNvSpPr txBox="1"/>
          <p:nvPr/>
        </p:nvSpPr>
        <p:spPr>
          <a:xfrm>
            <a:off x="1113467" y="6098950"/>
            <a:ext cx="10471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1" dirty="0"/>
              <a:t>There is a pressing need for dealing with cross-service performance issue!</a:t>
            </a:r>
            <a:endParaRPr kumimoji="1" lang="zh-CN" altLang="en-US" sz="2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5C29D0-4164-84F8-0C90-1DABAC39F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091" y="3456794"/>
            <a:ext cx="4977724" cy="23418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0965E8-D937-CDE9-B040-5F3C963D5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89" y="2240332"/>
            <a:ext cx="4667087" cy="19047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EED5D36-8794-002F-BA38-89E3C13C2BF8}"/>
              </a:ext>
            </a:extLst>
          </p:cNvPr>
          <p:cNvSpPr txBox="1"/>
          <p:nvPr/>
        </p:nvSpPr>
        <p:spPr>
          <a:xfrm>
            <a:off x="323490" y="1327374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Control-plane issue overloads GCE, downstream services see elevated latency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83819A0-90D8-8FA3-DDCC-A4C00B9DCC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774" y="1569254"/>
            <a:ext cx="5236242" cy="16199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3850ECF-0FF2-A5B5-E6CE-D716D5B6A75E}"/>
              </a:ext>
            </a:extLst>
          </p:cNvPr>
          <p:cNvSpPr txBox="1"/>
          <p:nvPr/>
        </p:nvSpPr>
        <p:spPr>
          <a:xfrm>
            <a:off x="2316911" y="2060608"/>
            <a:ext cx="4248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dirty="0"/>
              <a:t>Google</a:t>
            </a:r>
            <a:r>
              <a:rPr kumimoji="1" lang="zh-CN" altLang="en-US" sz="1800" b="1" dirty="0"/>
              <a:t> </a:t>
            </a:r>
            <a:r>
              <a:rPr lang="en-GB" altLang="zh-CN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apologize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altLang="zh-CN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altLang="zh-CN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customers who were impacted during  disruption</a:t>
            </a:r>
            <a:endParaRPr lang="zh-CN" altLang="en-US" b="1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7289D31-DDD3-5B4A-CB84-CBF22DBBAB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89" y="5407280"/>
            <a:ext cx="5149901" cy="57403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ABC0C0D-2D57-9CE0-7893-EDAA430AC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282" y="5327676"/>
            <a:ext cx="18542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46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448D-BD4E-8E08-FEE5-37219A14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473" y="500062"/>
            <a:ext cx="10903527" cy="1325563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GB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ependenc</a:t>
            </a:r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ies</a:t>
            </a:r>
            <a:r>
              <a:rPr lang="zh-CN" altLang="en-US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343CC-B4BE-27F7-2C9E-65BCBB34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Traditional approaches</a:t>
            </a:r>
            <a:r>
              <a:rPr lang="zh-CN" altLang="en-US" dirty="0"/>
              <a:t> </a:t>
            </a:r>
            <a:r>
              <a:rPr lang="en-GB" altLang="zh-CN" dirty="0"/>
              <a:t>are impractical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GB" altLang="zh-CN" dirty="0"/>
              <a:t>modern cloud systems</a:t>
            </a:r>
          </a:p>
          <a:p>
            <a:pPr lvl="1"/>
            <a:r>
              <a:rPr lang="en-GB" altLang="zh-CN" dirty="0"/>
              <a:t>Documentation becomes outdated quickly and requires continuous maintenance.</a:t>
            </a:r>
          </a:p>
          <a:p>
            <a:pPr lvl="1"/>
            <a:r>
              <a:rPr lang="en-GB" altLang="zh-CN" dirty="0"/>
              <a:t>Tracing across heterogeneous tech stacks demands heavy engineering effort.</a:t>
            </a:r>
          </a:p>
          <a:p>
            <a:pPr lvl="1"/>
            <a:r>
              <a:rPr lang="en-GB" altLang="zh-CN" dirty="0"/>
              <a:t>Service context isn’t shared effectively across teams, hindering</a:t>
            </a:r>
            <a:r>
              <a:rPr lang="zh-CN" altLang="en-US" dirty="0"/>
              <a:t> </a:t>
            </a:r>
            <a:r>
              <a:rPr lang="en-GB" altLang="zh-CN" dirty="0"/>
              <a:t>coordination.</a:t>
            </a:r>
          </a:p>
          <a:p>
            <a:pPr lvl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3810412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D1B7A7-7F44-9C7D-1C17-DA3E97FDB986}"/>
              </a:ext>
            </a:extLst>
          </p:cNvPr>
          <p:cNvSpPr txBox="1"/>
          <p:nvPr/>
        </p:nvSpPr>
        <p:spPr>
          <a:xfrm>
            <a:off x="1525499" y="712751"/>
            <a:ext cx="9141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A9D7F077-F353-05B1-52C0-4FDF631ABE5E}"/>
              </a:ext>
            </a:extLst>
          </p:cNvPr>
          <p:cNvGraphicFramePr>
            <a:graphicFrameLocks noGrp="1"/>
          </p:cNvGraphicFramePr>
          <p:nvPr/>
        </p:nvGraphicFramePr>
        <p:xfrm>
          <a:off x="132944" y="2030904"/>
          <a:ext cx="11832077" cy="355709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sz="2000" dirty="0"/>
                        <a:t> invoked </a:t>
                      </a:r>
                      <a:r>
                        <a:rPr lang="en-GB" altLang="zh-CN" sz="2000" dirty="0" err="1"/>
                        <a:t>oom</a:t>
                      </a:r>
                      <a:r>
                        <a:rPr lang="en-GB" altLang="zh-CN" sz="2000" dirty="0"/>
                        <a:t>-killer</a:t>
                      </a:r>
                      <a:r>
                        <a:rPr lang="en-US" altLang="zh-CN" sz="2000" dirty="0"/>
                        <a:t>: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GB" altLang="zh-CN" sz="2000" dirty="0" err="1"/>
                        <a:t>gfp_mask</a:t>
                      </a:r>
                      <a:r>
                        <a:rPr lang="en-GB" altLang="zh-CN" sz="2000" dirty="0"/>
                        <a:t>=0xcc0(GFP_KERNEL)</a:t>
                      </a:r>
                      <a:r>
                        <a:rPr lang="en-US" altLang="zh-CN" sz="2000" dirty="0"/>
                        <a:t>…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250132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dirty="0"/>
                        <a:t>oom_kill_process+0xdc/0x2a0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662610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dirty="0" err="1"/>
                        <a:t>oomkill:constraint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b="0" dirty="0" err="1"/>
                        <a:t>CONSTRAINT_MEMCG</a:t>
                      </a:r>
                      <a:r>
                        <a:rPr lang="en-GB" altLang="zh-CN" sz="2000" dirty="0" err="1"/>
                        <a:t>,nodemask</a:t>
                      </a:r>
                      <a:r>
                        <a:rPr lang="en-GB" altLang="zh-CN" sz="2000" dirty="0"/>
                        <a:t>=(null),</a:t>
                      </a:r>
                      <a:r>
                        <a:rPr lang="en-GB" altLang="zh-CN" sz="2000" dirty="0" err="1"/>
                        <a:t>cpuset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dirty="0" err="1"/>
                        <a:t>support.slice,mems_allowed</a:t>
                      </a:r>
                      <a:r>
                        <a:rPr lang="en-GB" altLang="zh-CN" sz="2000" dirty="0"/>
                        <a:t>=0,oom_memcg</a:t>
                      </a:r>
                      <a:r>
                        <a:rPr lang="en-GB" altLang="zh-CN" sz="2000" b="0" dirty="0"/>
                        <a:t>=/</a:t>
                      </a:r>
                      <a:r>
                        <a:rPr lang="en-GB" altLang="zh-CN" sz="2000" b="0" dirty="0" err="1"/>
                        <a:t>support.slice</a:t>
                      </a:r>
                      <a:r>
                        <a:rPr lang="en-GB" altLang="zh-CN" sz="2000" b="0" dirty="0"/>
                        <a:t>/</a:t>
                      </a:r>
                      <a:r>
                        <a:rPr lang="en-GB" altLang="zh-CN" sz="2000" b="1" dirty="0"/>
                        <a:t>RepairAgent.</a:t>
                      </a:r>
                      <a:r>
                        <a:rPr lang="en-GB" altLang="zh-CN" sz="2000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sz="2000" dirty="0"/>
                        <a:t>,task_memcg</a:t>
                      </a:r>
                      <a:r>
                        <a:rPr lang="en-GB" altLang="zh-CN" sz="2000" b="0" dirty="0"/>
                        <a:t>=/</a:t>
                      </a:r>
                      <a:r>
                        <a:rPr lang="en-GB" altLang="zh-CN" sz="2000" b="0" dirty="0" err="1"/>
                        <a:t>support.slice</a:t>
                      </a:r>
                      <a:r>
                        <a:rPr lang="en-GB" altLang="zh-CN" sz="2000" b="0" dirty="0"/>
                        <a:t>/RepairAgent.RepairAgent_23_9_7003_0.service</a:t>
                      </a:r>
                      <a:r>
                        <a:rPr lang="en-GB" altLang="zh-CN" sz="2000" dirty="0"/>
                        <a:t>,task=</a:t>
                      </a:r>
                      <a:r>
                        <a:rPr lang="en-GB" altLang="zh-CN" sz="2000" b="1" dirty="0" err="1"/>
                        <a:t>RepairAgent</a:t>
                      </a:r>
                      <a:r>
                        <a:rPr lang="en-GB" altLang="zh-CN" sz="2000" dirty="0" err="1"/>
                        <a:t>,pid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b="1" dirty="0">
                          <a:highlight>
                            <a:srgbClr val="FFFF00"/>
                          </a:highlight>
                        </a:rPr>
                        <a:t>3820648</a:t>
                      </a:r>
                      <a:r>
                        <a:rPr lang="en-GB" altLang="zh-CN" sz="2000" dirty="0"/>
                        <a:t>,uid=0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15CABC54-0D75-94DA-4CF8-6EA98DB341FD}"/>
              </a:ext>
            </a:extLst>
          </p:cNvPr>
          <p:cNvSpPr txBox="1"/>
          <p:nvPr/>
        </p:nvSpPr>
        <p:spPr>
          <a:xfrm>
            <a:off x="5378766" y="5828935"/>
            <a:ext cx="1340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87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A9D7F077-F353-05B1-52C0-4FDF631AB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821570"/>
              </p:ext>
            </p:extLst>
          </p:nvPr>
        </p:nvGraphicFramePr>
        <p:xfrm>
          <a:off x="98654" y="1528992"/>
          <a:ext cx="11832077" cy="316085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sz="2000" dirty="0"/>
                        <a:t> invoked </a:t>
                      </a:r>
                      <a:r>
                        <a:rPr lang="en-GB" altLang="zh-CN" sz="2000" dirty="0" err="1"/>
                        <a:t>oom</a:t>
                      </a:r>
                      <a:r>
                        <a:rPr lang="en-GB" altLang="zh-CN" sz="2000" dirty="0"/>
                        <a:t>-killer</a:t>
                      </a:r>
                      <a:r>
                        <a:rPr lang="en-US" altLang="zh-CN" sz="2000" dirty="0"/>
                        <a:t>: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GB" altLang="zh-CN" sz="2000" dirty="0" err="1"/>
                        <a:t>gfp_mask</a:t>
                      </a:r>
                      <a:r>
                        <a:rPr lang="en-GB" altLang="zh-CN" sz="2000" dirty="0"/>
                        <a:t>=0xcc0(GFP_KERNEL)</a:t>
                      </a:r>
                      <a:r>
                        <a:rPr lang="en-US" altLang="zh-CN" sz="2000" dirty="0"/>
                        <a:t>…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dirty="0" err="1"/>
                        <a:t>oomkill:constraint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b="0" dirty="0" err="1"/>
                        <a:t>CONSTRAINT_MEMCG</a:t>
                      </a:r>
                      <a:r>
                        <a:rPr lang="en-GB" altLang="zh-CN" sz="2000" dirty="0" err="1"/>
                        <a:t>,nodemask</a:t>
                      </a:r>
                      <a:r>
                        <a:rPr lang="en-GB" altLang="zh-CN" sz="2000" dirty="0"/>
                        <a:t>=(null),</a:t>
                      </a:r>
                      <a:r>
                        <a:rPr lang="en-GB" altLang="zh-CN" sz="2000" dirty="0" err="1"/>
                        <a:t>cpuset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dirty="0" err="1"/>
                        <a:t>support.slice,mems_allowed</a:t>
                      </a:r>
                      <a:r>
                        <a:rPr lang="en-GB" altLang="zh-CN" sz="2000" dirty="0"/>
                        <a:t>=0,oom_memcg</a:t>
                      </a:r>
                      <a:r>
                        <a:rPr lang="en-GB" altLang="zh-CN" sz="2000" b="0" dirty="0"/>
                        <a:t>=/</a:t>
                      </a:r>
                      <a:r>
                        <a:rPr lang="en-GB" altLang="zh-CN" sz="2000" b="0" dirty="0" err="1"/>
                        <a:t>support.slice</a:t>
                      </a:r>
                      <a:r>
                        <a:rPr lang="en-GB" altLang="zh-CN" sz="2000" b="0" dirty="0"/>
                        <a:t>/</a:t>
                      </a:r>
                      <a:r>
                        <a:rPr lang="en-GB" altLang="zh-CN" sz="2000" b="1" dirty="0"/>
                        <a:t>RepairAgent.</a:t>
                      </a:r>
                      <a:r>
                        <a:rPr lang="en-GB" altLang="zh-CN" sz="2000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sz="2000" dirty="0"/>
                        <a:t>,task_memcg</a:t>
                      </a:r>
                      <a:r>
                        <a:rPr lang="en-GB" altLang="zh-CN" sz="2000" b="0" dirty="0"/>
                        <a:t>=/</a:t>
                      </a:r>
                      <a:r>
                        <a:rPr lang="en-GB" altLang="zh-CN" sz="2000" b="0" dirty="0" err="1"/>
                        <a:t>support.slice</a:t>
                      </a:r>
                      <a:r>
                        <a:rPr lang="en-GB" altLang="zh-CN" sz="2000" b="0" dirty="0"/>
                        <a:t>/RepairAgent.RepairAgent_23_9_7003_0.service</a:t>
                      </a:r>
                      <a:r>
                        <a:rPr lang="en-GB" altLang="zh-CN" sz="2000" dirty="0"/>
                        <a:t>,task=</a:t>
                      </a:r>
                      <a:r>
                        <a:rPr lang="en-GB" altLang="zh-CN" sz="2000" b="1" dirty="0" err="1"/>
                        <a:t>RepairAgent</a:t>
                      </a:r>
                      <a:r>
                        <a:rPr lang="en-GB" altLang="zh-CN" sz="2000" dirty="0" err="1"/>
                        <a:t>,</a:t>
                      </a:r>
                      <a:r>
                        <a:rPr lang="en-GB" altLang="zh-CN" sz="2000" b="1" dirty="0" err="1">
                          <a:highlight>
                            <a:srgbClr val="FFFF00"/>
                          </a:highlight>
                        </a:rPr>
                        <a:t>pid</a:t>
                      </a:r>
                      <a:r>
                        <a:rPr lang="en-GB" altLang="zh-CN" sz="2000" b="1" dirty="0">
                          <a:highlight>
                            <a:srgbClr val="FFFF00"/>
                          </a:highlight>
                        </a:rPr>
                        <a:t>=3820648</a:t>
                      </a:r>
                      <a:r>
                        <a:rPr lang="en-GB" altLang="zh-CN" sz="2000" dirty="0"/>
                        <a:t>,uid=0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15CABC54-0D75-94DA-4CF8-6EA98DB341FD}"/>
              </a:ext>
            </a:extLst>
          </p:cNvPr>
          <p:cNvSpPr txBox="1"/>
          <p:nvPr/>
        </p:nvSpPr>
        <p:spPr>
          <a:xfrm>
            <a:off x="5210054" y="4816611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EE9869-5FD3-99B0-683C-7036E0161FB1}"/>
              </a:ext>
            </a:extLst>
          </p:cNvPr>
          <p:cNvSpPr txBox="1"/>
          <p:nvPr/>
        </p:nvSpPr>
        <p:spPr>
          <a:xfrm>
            <a:off x="1947329" y="5721562"/>
            <a:ext cx="2105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8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kumimoji="1" lang="zh-CN" altLang="en-US" sz="28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C3D9DE-44B3-C220-6108-A3820B54DD43}"/>
              </a:ext>
            </a:extLst>
          </p:cNvPr>
          <p:cNvSpPr txBox="1"/>
          <p:nvPr/>
        </p:nvSpPr>
        <p:spPr>
          <a:xfrm>
            <a:off x="7838349" y="5721562"/>
            <a:ext cx="2315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RepairAgent</a:t>
            </a:r>
            <a:endParaRPr kumimoji="1" lang="zh-CN" altLang="en-US" sz="28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B61BC912-5B44-E6A9-7C9D-0AB164695C55}"/>
              </a:ext>
            </a:extLst>
          </p:cNvPr>
          <p:cNvCxnSpPr>
            <a:cxnSpLocks/>
          </p:cNvCxnSpPr>
          <p:nvPr/>
        </p:nvCxnSpPr>
        <p:spPr>
          <a:xfrm>
            <a:off x="4366017" y="5983171"/>
            <a:ext cx="3249038" cy="0"/>
          </a:xfrm>
          <a:prstGeom prst="straightConnector1">
            <a:avLst/>
          </a:prstGeom>
          <a:ln w="63500">
            <a:solidFill>
              <a:schemeClr val="accent3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 descr="问号 纯色填充">
            <a:extLst>
              <a:ext uri="{FF2B5EF4-FFF2-40B4-BE49-F238E27FC236}">
                <a16:creationId xmlns:a16="http://schemas.microsoft.com/office/drawing/2014/main" id="{B89A0A1A-B315-5E5C-19CB-741E31DE3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0055" y="5371465"/>
            <a:ext cx="1223411" cy="122341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C3DF052-515C-87B8-610F-E164E1A32571}"/>
              </a:ext>
            </a:extLst>
          </p:cNvPr>
          <p:cNvSpPr txBox="1"/>
          <p:nvPr/>
        </p:nvSpPr>
        <p:spPr>
          <a:xfrm>
            <a:off x="1525499" y="336219"/>
            <a:ext cx="9141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79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A9D7F077-F353-05B1-52C0-4FDF631ABE5E}"/>
              </a:ext>
            </a:extLst>
          </p:cNvPr>
          <p:cNvGraphicFramePr>
            <a:graphicFrameLocks noGrp="1"/>
          </p:cNvGraphicFramePr>
          <p:nvPr/>
        </p:nvGraphicFramePr>
        <p:xfrm>
          <a:off x="99676" y="1295473"/>
          <a:ext cx="11832077" cy="279619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dirty="0"/>
                        <a:t> invoked </a:t>
                      </a:r>
                      <a:r>
                        <a:rPr lang="en-GB" altLang="zh-CN" dirty="0" err="1"/>
                        <a:t>oom</a:t>
                      </a:r>
                      <a:r>
                        <a:rPr lang="en-GB" altLang="zh-CN" dirty="0"/>
                        <a:t>-killer</a:t>
                      </a:r>
                      <a:r>
                        <a:rPr lang="en-US" altLang="zh-CN" dirty="0"/>
                        <a:t>:</a:t>
                      </a:r>
                      <a:r>
                        <a:rPr lang="zh-CN" altLang="en-US" dirty="0"/>
                        <a:t> </a:t>
                      </a:r>
                      <a:r>
                        <a:rPr lang="en-GB" altLang="zh-CN" dirty="0" err="1"/>
                        <a:t>gfp_mask</a:t>
                      </a:r>
                      <a:r>
                        <a:rPr lang="en-GB" altLang="zh-CN" dirty="0"/>
                        <a:t>=0xcc0(GFP_KERNEL)</a:t>
                      </a: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 err="1"/>
                        <a:t>oomkill:constraint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0" dirty="0" err="1"/>
                        <a:t>CONSTRAINT_MEMCG</a:t>
                      </a:r>
                      <a:r>
                        <a:rPr lang="en-GB" altLang="zh-CN" dirty="0" err="1"/>
                        <a:t>,nodemask</a:t>
                      </a:r>
                      <a:r>
                        <a:rPr lang="en-GB" altLang="zh-CN" dirty="0"/>
                        <a:t>=(null),</a:t>
                      </a:r>
                      <a:r>
                        <a:rPr lang="en-GB" altLang="zh-CN" dirty="0" err="1"/>
                        <a:t>cpuset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dirty="0" err="1"/>
                        <a:t>support.slice,mems_allowed</a:t>
                      </a:r>
                      <a:r>
                        <a:rPr lang="en-GB" altLang="zh-CN" dirty="0"/>
                        <a:t>=0,oom_memcg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</a:t>
                      </a:r>
                      <a:r>
                        <a:rPr lang="en-GB" altLang="zh-CN" b="1" dirty="0"/>
                        <a:t>RepairAgent.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dirty="0"/>
                        <a:t>,task_memcg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/RepairAgent.RepairAgent_23_9_7003_0.service</a:t>
                      </a:r>
                      <a:r>
                        <a:rPr lang="en-GB" altLang="zh-CN" dirty="0"/>
                        <a:t>,task=</a:t>
                      </a:r>
                      <a:r>
                        <a:rPr lang="en-GB" altLang="zh-CN" b="1" dirty="0" err="1"/>
                        <a:t>RepairAgent</a:t>
                      </a:r>
                      <a:r>
                        <a:rPr lang="en-GB" altLang="zh-CN" dirty="0" err="1"/>
                        <a:t>,pid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3820648</a:t>
                      </a:r>
                      <a:r>
                        <a:rPr lang="en-GB" altLang="zh-CN" dirty="0"/>
                        <a:t>,uid=0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19992F48-CF8C-4139-CCD4-A6D52CC690D0}"/>
              </a:ext>
            </a:extLst>
          </p:cNvPr>
          <p:cNvSpPr txBox="1"/>
          <p:nvPr/>
        </p:nvSpPr>
        <p:spPr>
          <a:xfrm>
            <a:off x="5538881" y="522034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fork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5CABC54-0D75-94DA-4CF8-6EA98DB341FD}"/>
              </a:ext>
            </a:extLst>
          </p:cNvPr>
          <p:cNvSpPr txBox="1"/>
          <p:nvPr/>
        </p:nvSpPr>
        <p:spPr>
          <a:xfrm>
            <a:off x="5211868" y="408185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E8DD6A-056E-7957-0FDA-6D02A9BB26D4}"/>
              </a:ext>
            </a:extLst>
          </p:cNvPr>
          <p:cNvSpPr txBox="1"/>
          <p:nvPr/>
        </p:nvSpPr>
        <p:spPr>
          <a:xfrm>
            <a:off x="4046121" y="5434535"/>
            <a:ext cx="1552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0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kumimoji="1" lang="zh-CN" altLang="en-US" sz="20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3C6B8C-F0E7-6055-3AF4-26C39D24BCF1}"/>
              </a:ext>
            </a:extLst>
          </p:cNvPr>
          <p:cNvSpPr txBox="1"/>
          <p:nvPr/>
        </p:nvSpPr>
        <p:spPr>
          <a:xfrm>
            <a:off x="6124598" y="5434535"/>
            <a:ext cx="1268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图形 27" descr="研究 纯色填充">
            <a:extLst>
              <a:ext uri="{FF2B5EF4-FFF2-40B4-BE49-F238E27FC236}">
                <a16:creationId xmlns:a16="http://schemas.microsoft.com/office/drawing/2014/main" id="{5011FF55-8629-F7F0-0032-650347CBF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632" y="5769689"/>
            <a:ext cx="860037" cy="860037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4064F703-777F-48B8-2E5D-9A3775689278}"/>
              </a:ext>
            </a:extLst>
          </p:cNvPr>
          <p:cNvSpPr txBox="1"/>
          <p:nvPr/>
        </p:nvSpPr>
        <p:spPr>
          <a:xfrm>
            <a:off x="0" y="6466633"/>
            <a:ext cx="2627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Team-by-team</a:t>
            </a:r>
            <a:r>
              <a: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effort</a:t>
            </a:r>
            <a:endParaRPr kumimoji="1"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F38647B-D5DA-4323-0408-D1ADBBF96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1" y="4897201"/>
            <a:ext cx="3553839" cy="94222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B3E002F6-399D-054A-8192-5EC8435F9633}"/>
              </a:ext>
            </a:extLst>
          </p:cNvPr>
          <p:cNvSpPr txBox="1"/>
          <p:nvPr/>
        </p:nvSpPr>
        <p:spPr>
          <a:xfrm>
            <a:off x="8350192" y="538962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5901120-3032-D97A-22A0-599B8114C500}"/>
              </a:ext>
            </a:extLst>
          </p:cNvPr>
          <p:cNvSpPr txBox="1"/>
          <p:nvPr/>
        </p:nvSpPr>
        <p:spPr>
          <a:xfrm>
            <a:off x="9685901" y="5389626"/>
            <a:ext cx="1710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0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RepairAgent</a:t>
            </a:r>
            <a:endParaRPr kumimoji="1" lang="zh-CN" altLang="en-US" sz="20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9A1E816-1C8A-1927-3B28-41D303D05271}"/>
              </a:ext>
            </a:extLst>
          </p:cNvPr>
          <p:cNvSpPr txBox="1"/>
          <p:nvPr/>
        </p:nvSpPr>
        <p:spPr>
          <a:xfrm>
            <a:off x="7237900" y="4988259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message </a:t>
            </a:r>
          </a:p>
          <a:p>
            <a:pPr algn="ctr"/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queue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81B7670-B216-1AD7-5F25-9E8C18D7C541}"/>
              </a:ext>
            </a:extLst>
          </p:cNvPr>
          <p:cNvSpPr txBox="1"/>
          <p:nvPr/>
        </p:nvSpPr>
        <p:spPr>
          <a:xfrm>
            <a:off x="8912143" y="516127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Rpc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9C0AA724-99ED-AE42-A6E2-FF9A1174156C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5598149" y="5634590"/>
            <a:ext cx="5264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AECC645A-FC71-492C-01F1-02043E9A8381}"/>
              </a:ext>
            </a:extLst>
          </p:cNvPr>
          <p:cNvCxnSpPr>
            <a:cxnSpLocks/>
          </p:cNvCxnSpPr>
          <p:nvPr/>
        </p:nvCxnSpPr>
        <p:spPr>
          <a:xfrm>
            <a:off x="7428750" y="5634590"/>
            <a:ext cx="881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CB78F88F-4A43-8FAE-399F-CC0EB19CE11A}"/>
              </a:ext>
            </a:extLst>
          </p:cNvPr>
          <p:cNvCxnSpPr/>
          <p:nvPr/>
        </p:nvCxnSpPr>
        <p:spPr>
          <a:xfrm>
            <a:off x="8870121" y="5627587"/>
            <a:ext cx="662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31F8AC2C-2FD1-BF07-5B13-827133A82E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183" y="5932953"/>
            <a:ext cx="590550" cy="6096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2E2F137F-F66C-2DD4-0C25-C2C1E3C1D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8320" y="5928217"/>
            <a:ext cx="590550" cy="6096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39C6E550-35AC-2277-9446-068267C8F7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788" y="5907214"/>
            <a:ext cx="590550" cy="60960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DFD02DF8-7D48-0179-9AD4-A4807DA0935A}"/>
              </a:ext>
            </a:extLst>
          </p:cNvPr>
          <p:cNvSpPr txBox="1"/>
          <p:nvPr/>
        </p:nvSpPr>
        <p:spPr>
          <a:xfrm>
            <a:off x="4381482" y="576968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Node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0,2</a:t>
            </a:r>
            <a:endParaRPr kumimoji="1" lang="zh-CN" altLang="en-US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8B60475-B65D-B8E4-2B7E-743AAB0FB70F}"/>
              </a:ext>
            </a:extLst>
          </p:cNvPr>
          <p:cNvSpPr txBox="1"/>
          <p:nvPr/>
        </p:nvSpPr>
        <p:spPr>
          <a:xfrm>
            <a:off x="6253878" y="578898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Node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1,3</a:t>
            </a:r>
            <a:endParaRPr kumimoji="1" lang="zh-CN" altLang="en-US" b="1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6C1ED1-6C0C-2885-FCB9-F2C3C81A6CAA}"/>
              </a:ext>
            </a:extLst>
          </p:cNvPr>
          <p:cNvSpPr txBox="1"/>
          <p:nvPr/>
        </p:nvSpPr>
        <p:spPr>
          <a:xfrm>
            <a:off x="8723915" y="576968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Node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0,3</a:t>
            </a:r>
            <a:endParaRPr kumimoji="1" lang="zh-CN" altLang="en-US" b="1" dirty="0"/>
          </a:p>
        </p:txBody>
      </p:sp>
      <p:cxnSp>
        <p:nvCxnSpPr>
          <p:cNvPr id="48" name="肘形连接符 47">
            <a:extLst>
              <a:ext uri="{FF2B5EF4-FFF2-40B4-BE49-F238E27FC236}">
                <a16:creationId xmlns:a16="http://schemas.microsoft.com/office/drawing/2014/main" id="{582932AD-A80A-76C0-659B-01E199778B56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 rot="5400000">
            <a:off x="3584123" y="2657750"/>
            <a:ext cx="446010" cy="4032893"/>
          </a:xfrm>
          <a:prstGeom prst="bentConnector3">
            <a:avLst>
              <a:gd name="adj1" fmla="val 50000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483B33A4-2059-8D04-7B06-993681A9A7C9}"/>
              </a:ext>
            </a:extLst>
          </p:cNvPr>
          <p:cNvCxnSpPr>
            <a:cxnSpLocks/>
            <a:stCxn id="44" idx="2"/>
            <a:endCxn id="30" idx="2"/>
          </p:cNvCxnSpPr>
          <p:nvPr/>
        </p:nvCxnSpPr>
        <p:spPr>
          <a:xfrm rot="5400000" flipH="1">
            <a:off x="3220899" y="4409211"/>
            <a:ext cx="299592" cy="3160028"/>
          </a:xfrm>
          <a:prstGeom prst="bentConnector3">
            <a:avLst>
              <a:gd name="adj1" fmla="val -76304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>
            <a:extLst>
              <a:ext uri="{FF2B5EF4-FFF2-40B4-BE49-F238E27FC236}">
                <a16:creationId xmlns:a16="http://schemas.microsoft.com/office/drawing/2014/main" id="{82FD08E9-2A89-5D95-2B01-6DAAB9B239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339" y="4091665"/>
            <a:ext cx="590550" cy="609600"/>
          </a:xfrm>
          <a:prstGeom prst="rect">
            <a:avLst/>
          </a:prstGeom>
        </p:spPr>
      </p:pic>
      <p:cxnSp>
        <p:nvCxnSpPr>
          <p:cNvPr id="61" name="肘形连接符 60">
            <a:extLst>
              <a:ext uri="{FF2B5EF4-FFF2-40B4-BE49-F238E27FC236}">
                <a16:creationId xmlns:a16="http://schemas.microsoft.com/office/drawing/2014/main" id="{8C962114-BFC3-99BD-D204-7570796AD0D7}"/>
              </a:ext>
            </a:extLst>
          </p:cNvPr>
          <p:cNvCxnSpPr>
            <a:stCxn id="45" idx="2"/>
            <a:endCxn id="30" idx="2"/>
          </p:cNvCxnSpPr>
          <p:nvPr/>
        </p:nvCxnSpPr>
        <p:spPr>
          <a:xfrm rot="5400000" flipH="1">
            <a:off x="4147447" y="3482663"/>
            <a:ext cx="318892" cy="5032424"/>
          </a:xfrm>
          <a:prstGeom prst="bentConnector3">
            <a:avLst>
              <a:gd name="adj1" fmla="val -71686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肘形连接符 65">
            <a:extLst>
              <a:ext uri="{FF2B5EF4-FFF2-40B4-BE49-F238E27FC236}">
                <a16:creationId xmlns:a16="http://schemas.microsoft.com/office/drawing/2014/main" id="{22A0ABD5-83D7-A0A4-3021-5EA0372E5339}"/>
              </a:ext>
            </a:extLst>
          </p:cNvPr>
          <p:cNvCxnSpPr>
            <a:stCxn id="46" idx="2"/>
            <a:endCxn id="30" idx="2"/>
          </p:cNvCxnSpPr>
          <p:nvPr/>
        </p:nvCxnSpPr>
        <p:spPr>
          <a:xfrm rot="5400000" flipH="1">
            <a:off x="5392116" y="2237995"/>
            <a:ext cx="299592" cy="7502461"/>
          </a:xfrm>
          <a:prstGeom prst="bentConnector3">
            <a:avLst>
              <a:gd name="adj1" fmla="val -76304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6229D93-2334-6B5A-D164-B28DF936C21A}"/>
              </a:ext>
            </a:extLst>
          </p:cNvPr>
          <p:cNvSpPr txBox="1"/>
          <p:nvPr/>
        </p:nvSpPr>
        <p:spPr>
          <a:xfrm>
            <a:off x="1525499" y="198955"/>
            <a:ext cx="9141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693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D1B7A7-7F44-9C7D-1C17-DA3E97FDB986}"/>
              </a:ext>
            </a:extLst>
          </p:cNvPr>
          <p:cNvSpPr txBox="1"/>
          <p:nvPr/>
        </p:nvSpPr>
        <p:spPr>
          <a:xfrm>
            <a:off x="342794" y="524473"/>
            <a:ext cx="115064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Services Dependency</a:t>
            </a:r>
            <a:r>
              <a:rPr kumimoji="1"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kumimoji="1"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logs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FE133D-A7E1-2ACE-E9A2-27F036C6B0F8}"/>
              </a:ext>
            </a:extLst>
          </p:cNvPr>
          <p:cNvSpPr/>
          <p:nvPr/>
        </p:nvSpPr>
        <p:spPr>
          <a:xfrm>
            <a:off x="786540" y="5325364"/>
            <a:ext cx="4793378" cy="584413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56B17A5-373F-3DB7-ECAB-9B186AA76CC0}"/>
              </a:ext>
            </a:extLst>
          </p:cNvPr>
          <p:cNvCxnSpPr>
            <a:cxnSpLocks/>
          </p:cNvCxnSpPr>
          <p:nvPr/>
        </p:nvCxnSpPr>
        <p:spPr>
          <a:xfrm>
            <a:off x="5846956" y="3779350"/>
            <a:ext cx="0" cy="58323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2">
            <a:extLst>
              <a:ext uri="{FF2B5EF4-FFF2-40B4-BE49-F238E27FC236}">
                <a16:creationId xmlns:a16="http://schemas.microsoft.com/office/drawing/2014/main" id="{8F0DA9D3-FECB-396F-71CC-39A251BEA9FC}"/>
              </a:ext>
            </a:extLst>
          </p:cNvPr>
          <p:cNvGraphicFramePr>
            <a:graphicFrameLocks noGrp="1"/>
          </p:cNvGraphicFramePr>
          <p:nvPr/>
        </p:nvGraphicFramePr>
        <p:xfrm>
          <a:off x="179961" y="1777254"/>
          <a:ext cx="11832077" cy="279619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dirty="0"/>
                        <a:t> invoked </a:t>
                      </a:r>
                      <a:r>
                        <a:rPr lang="en-GB" altLang="zh-CN" dirty="0" err="1"/>
                        <a:t>oom</a:t>
                      </a:r>
                      <a:r>
                        <a:rPr lang="en-GB" altLang="zh-CN" dirty="0"/>
                        <a:t>-killer</a:t>
                      </a:r>
                      <a:r>
                        <a:rPr lang="en-US" altLang="zh-CN" dirty="0"/>
                        <a:t>:</a:t>
                      </a:r>
                      <a:r>
                        <a:rPr lang="zh-CN" altLang="en-US" dirty="0"/>
                        <a:t> </a:t>
                      </a:r>
                      <a:r>
                        <a:rPr lang="en-GB" altLang="zh-CN" dirty="0" err="1"/>
                        <a:t>gfp_mask</a:t>
                      </a:r>
                      <a:r>
                        <a:rPr lang="en-GB" altLang="zh-CN" dirty="0"/>
                        <a:t>=0xcc0(GFP_KERNEL)</a:t>
                      </a: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 err="1"/>
                        <a:t>oomkill:constraint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0" dirty="0" err="1"/>
                        <a:t>CONSTRAINT_MEMCG</a:t>
                      </a:r>
                      <a:r>
                        <a:rPr lang="en-GB" altLang="zh-CN" dirty="0" err="1"/>
                        <a:t>,nodemask</a:t>
                      </a:r>
                      <a:r>
                        <a:rPr lang="en-GB" altLang="zh-CN" dirty="0"/>
                        <a:t>=(null),</a:t>
                      </a:r>
                      <a:r>
                        <a:rPr lang="en-GB" altLang="zh-CN" dirty="0" err="1"/>
                        <a:t>cpuset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dirty="0" err="1"/>
                        <a:t>support.slice,mems_allowed</a:t>
                      </a:r>
                      <a:r>
                        <a:rPr lang="en-GB" altLang="zh-CN" dirty="0"/>
                        <a:t>=0,oom_memcg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</a:t>
                      </a:r>
                      <a:r>
                        <a:rPr lang="en-GB" altLang="zh-CN" b="1" dirty="0"/>
                        <a:t>RepairAgent.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dirty="0"/>
                        <a:t>,task_memcg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/RepairAgent.RepairAgent_23_9_7003_0.service</a:t>
                      </a:r>
                      <a:r>
                        <a:rPr lang="en-GB" altLang="zh-CN" dirty="0"/>
                        <a:t>,task=</a:t>
                      </a:r>
                      <a:r>
                        <a:rPr lang="en-GB" altLang="zh-CN" b="1" dirty="0" err="1"/>
                        <a:t>RepairAgent</a:t>
                      </a:r>
                      <a:r>
                        <a:rPr lang="en-GB" altLang="zh-CN" dirty="0" err="1"/>
                        <a:t>,pid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3820648</a:t>
                      </a:r>
                      <a:r>
                        <a:rPr lang="en-GB" altLang="zh-CN" dirty="0"/>
                        <a:t>,uid=0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11FAF4AE-6244-7825-B2E8-BBAE04C68F3D}"/>
              </a:ext>
            </a:extLst>
          </p:cNvPr>
          <p:cNvSpPr txBox="1"/>
          <p:nvPr/>
        </p:nvSpPr>
        <p:spPr>
          <a:xfrm>
            <a:off x="786540" y="5356141"/>
            <a:ext cx="4870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timestamps</a:t>
            </a:r>
            <a:endParaRPr lang="zh-CN" altLang="en-US" sz="24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D61E57-DF2F-F574-FBC6-B2710F9796E8}"/>
              </a:ext>
            </a:extLst>
          </p:cNvPr>
          <p:cNvSpPr/>
          <p:nvPr/>
        </p:nvSpPr>
        <p:spPr>
          <a:xfrm>
            <a:off x="6998416" y="5399106"/>
            <a:ext cx="3581030" cy="47819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C79B0D-95B9-CE28-B27C-2A29BFD6BC90}"/>
              </a:ext>
            </a:extLst>
          </p:cNvPr>
          <p:cNvSpPr txBox="1"/>
          <p:nvPr/>
        </p:nvSpPr>
        <p:spPr>
          <a:xfrm>
            <a:off x="6998417" y="5399107"/>
            <a:ext cx="3724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zh-CN" altLang="en-US" sz="24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C63C3876-7655-1658-709C-ABE54074843E}"/>
              </a:ext>
            </a:extLst>
          </p:cNvPr>
          <p:cNvCxnSpPr>
            <a:cxnSpLocks/>
          </p:cNvCxnSpPr>
          <p:nvPr/>
        </p:nvCxnSpPr>
        <p:spPr>
          <a:xfrm>
            <a:off x="3326860" y="4680192"/>
            <a:ext cx="0" cy="567217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0C10729C-4603-C768-D1BD-2AA51D545AAB}"/>
              </a:ext>
            </a:extLst>
          </p:cNvPr>
          <p:cNvCxnSpPr>
            <a:cxnSpLocks/>
          </p:cNvCxnSpPr>
          <p:nvPr/>
        </p:nvCxnSpPr>
        <p:spPr>
          <a:xfrm>
            <a:off x="9032567" y="4702494"/>
            <a:ext cx="0" cy="62287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46BFF41-DDE9-2931-A262-329CDA41693D}"/>
              </a:ext>
            </a:extLst>
          </p:cNvPr>
          <p:cNvSpPr txBox="1"/>
          <p:nvPr/>
        </p:nvSpPr>
        <p:spPr>
          <a:xfrm>
            <a:off x="7725770" y="5942255"/>
            <a:ext cx="2708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happens-</a:t>
            </a:r>
            <a:r>
              <a:rPr lang="en-GB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F3207F-D1C1-AA10-2CAD-5A43F0702C07}"/>
              </a:ext>
            </a:extLst>
          </p:cNvPr>
          <p:cNvSpPr txBox="1"/>
          <p:nvPr/>
        </p:nvSpPr>
        <p:spPr>
          <a:xfrm>
            <a:off x="7725770" y="6286236"/>
            <a:ext cx="3498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曲线连接符 38">
            <a:extLst>
              <a:ext uri="{FF2B5EF4-FFF2-40B4-BE49-F238E27FC236}">
                <a16:creationId xmlns:a16="http://schemas.microsoft.com/office/drawing/2014/main" id="{C1F039C0-C281-A4BC-269B-AF168F8F7D18}"/>
              </a:ext>
            </a:extLst>
          </p:cNvPr>
          <p:cNvCxnSpPr>
            <a:cxnSpLocks/>
          </p:cNvCxnSpPr>
          <p:nvPr/>
        </p:nvCxnSpPr>
        <p:spPr>
          <a:xfrm>
            <a:off x="10255184" y="5639857"/>
            <a:ext cx="906282" cy="810741"/>
          </a:xfrm>
          <a:prstGeom prst="curvedConnector3">
            <a:avLst>
              <a:gd name="adj1" fmla="val 125224"/>
            </a:avLst>
          </a:prstGeom>
          <a:ln w="508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15990B1B-FCD4-90DD-C49A-54B122093640}"/>
              </a:ext>
            </a:extLst>
          </p:cNvPr>
          <p:cNvSpPr txBox="1"/>
          <p:nvPr/>
        </p:nvSpPr>
        <p:spPr>
          <a:xfrm>
            <a:off x="3489720" y="5928818"/>
            <a:ext cx="1508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lang="zh-CN" altLang="en-US" b="1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122A5BB-DFDD-433F-0982-E0524F874894}"/>
              </a:ext>
            </a:extLst>
          </p:cNvPr>
          <p:cNvSpPr txBox="1"/>
          <p:nvPr/>
        </p:nvSpPr>
        <p:spPr>
          <a:xfrm>
            <a:off x="3449626" y="6330626"/>
            <a:ext cx="171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Repair</a:t>
            </a:r>
            <a:r>
              <a:rPr lang="zh-CN" alt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endParaRPr lang="zh-CN" altLang="en-US" b="1" dirty="0"/>
          </a:p>
        </p:txBody>
      </p:sp>
      <p:cxnSp>
        <p:nvCxnSpPr>
          <p:cNvPr id="47" name="曲线连接符 46">
            <a:extLst>
              <a:ext uri="{FF2B5EF4-FFF2-40B4-BE49-F238E27FC236}">
                <a16:creationId xmlns:a16="http://schemas.microsoft.com/office/drawing/2014/main" id="{A9C608AE-E418-203A-33D1-7EAEC1E394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75850" y="6268502"/>
            <a:ext cx="434284" cy="189876"/>
          </a:xfrm>
          <a:prstGeom prst="curvedConnector4">
            <a:avLst>
              <a:gd name="adj1" fmla="val -5425"/>
              <a:gd name="adj2" fmla="val 220394"/>
            </a:avLst>
          </a:prstGeom>
          <a:ln w="508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B31C74E-80FF-D459-E45F-7803999547D1}"/>
              </a:ext>
            </a:extLst>
          </p:cNvPr>
          <p:cNvSpPr txBox="1"/>
          <p:nvPr/>
        </p:nvSpPr>
        <p:spPr>
          <a:xfrm>
            <a:off x="1030534" y="5959595"/>
            <a:ext cx="2708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2023-09-15T16: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247953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0A92AA-010F-EE8F-D70B-7EDFCD615322}"/>
              </a:ext>
            </a:extLst>
          </p:cNvPr>
          <p:cNvSpPr txBox="1"/>
          <p:nvPr/>
        </p:nvSpPr>
        <p:spPr>
          <a:xfrm>
            <a:off x="1030534" y="6361799"/>
            <a:ext cx="2587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2023-09-15T16:19:20.705592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70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607ADB4E-AB9E-B2E5-E657-75701F34F3FA}"/>
              </a:ext>
            </a:extLst>
          </p:cNvPr>
          <p:cNvSpPr/>
          <p:nvPr/>
        </p:nvSpPr>
        <p:spPr>
          <a:xfrm>
            <a:off x="4538841" y="2910772"/>
            <a:ext cx="1945567" cy="100574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6E5B7F-0DEF-44CB-8378-96C4F839505C}"/>
              </a:ext>
            </a:extLst>
          </p:cNvPr>
          <p:cNvSpPr txBox="1"/>
          <p:nvPr/>
        </p:nvSpPr>
        <p:spPr>
          <a:xfrm>
            <a:off x="2086045" y="898467"/>
            <a:ext cx="81317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gent-based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xtraction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E4127D-1E18-042B-5BCE-E223568C3C1B}"/>
              </a:ext>
            </a:extLst>
          </p:cNvPr>
          <p:cNvSpPr txBox="1"/>
          <p:nvPr/>
        </p:nvSpPr>
        <p:spPr>
          <a:xfrm>
            <a:off x="629201" y="341364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FC07CD-0700-A7FB-2460-9DDAA0C8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622" y="2777225"/>
            <a:ext cx="590550" cy="6096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8F048AB-309F-D004-1FD5-04426181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035" y="2968447"/>
            <a:ext cx="590552" cy="60960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445E22A-BBF2-1B54-533E-DE46638FD409}"/>
              </a:ext>
            </a:extLst>
          </p:cNvPr>
          <p:cNvSpPr txBox="1"/>
          <p:nvPr/>
        </p:nvSpPr>
        <p:spPr>
          <a:xfrm>
            <a:off x="1954365" y="3558931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9CAFA38-B639-6908-D864-B8CBFD1DE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889" y="3438796"/>
            <a:ext cx="590552" cy="6096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347FB7D-A42A-F7D1-9020-B2435827F746}"/>
              </a:ext>
            </a:extLst>
          </p:cNvPr>
          <p:cNvSpPr txBox="1"/>
          <p:nvPr/>
        </p:nvSpPr>
        <p:spPr>
          <a:xfrm>
            <a:off x="3252523" y="39444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4" name="Picture 2" descr="ChatGPT - Simple English Wikipedia, the free encyclopedia">
            <a:extLst>
              <a:ext uri="{FF2B5EF4-FFF2-40B4-BE49-F238E27FC236}">
                <a16:creationId xmlns:a16="http://schemas.microsoft.com/office/drawing/2014/main" id="{72866535-7742-76E6-8AE2-D6CFC31ED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495" y="3144914"/>
            <a:ext cx="479769" cy="47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4A599F9-AFD3-8E2F-3FF4-2E2BAB8108E9}"/>
              </a:ext>
            </a:extLst>
          </p:cNvPr>
          <p:cNvSpPr txBox="1"/>
          <p:nvPr/>
        </p:nvSpPr>
        <p:spPr>
          <a:xfrm>
            <a:off x="4156739" y="4089522"/>
            <a:ext cx="2737734" cy="38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kumimoji="1"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Extractor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A322D78A-3A7D-B4A6-6A78-FD4D511E0B76}"/>
              </a:ext>
            </a:extLst>
          </p:cNvPr>
          <p:cNvCxnSpPr>
            <a:cxnSpLocks/>
          </p:cNvCxnSpPr>
          <p:nvPr/>
        </p:nvCxnSpPr>
        <p:spPr>
          <a:xfrm>
            <a:off x="3614441" y="3413643"/>
            <a:ext cx="80652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03F8D64F-8C09-87EE-4570-2A12CB191F26}"/>
              </a:ext>
            </a:extLst>
          </p:cNvPr>
          <p:cNvCxnSpPr>
            <a:cxnSpLocks/>
          </p:cNvCxnSpPr>
          <p:nvPr/>
        </p:nvCxnSpPr>
        <p:spPr>
          <a:xfrm>
            <a:off x="6674428" y="3451704"/>
            <a:ext cx="718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715D5A0-EE42-5459-4BD3-1412C439F9C1}"/>
              </a:ext>
            </a:extLst>
          </p:cNvPr>
          <p:cNvSpPr txBox="1"/>
          <p:nvPr/>
        </p:nvSpPr>
        <p:spPr>
          <a:xfrm>
            <a:off x="7628916" y="2985173"/>
            <a:ext cx="37305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Veritysetup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Veritysetup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RepairAgent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RepairAgent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Resource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invocation}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2DC9FED-6879-8BE5-7484-975A921013C2}"/>
              </a:ext>
            </a:extLst>
          </p:cNvPr>
          <p:cNvSpPr txBox="1"/>
          <p:nvPr/>
        </p:nvSpPr>
        <p:spPr>
          <a:xfrm>
            <a:off x="5391913" y="3205261"/>
            <a:ext cx="759997" cy="375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30B6264-C924-FB8C-DBC3-7BE85329B8BD}"/>
              </a:ext>
            </a:extLst>
          </p:cNvPr>
          <p:cNvSpPr txBox="1"/>
          <p:nvPr/>
        </p:nvSpPr>
        <p:spPr>
          <a:xfrm>
            <a:off x="8542627" y="4089522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Enhance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regex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524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7FF-A9A8-6BF1-DAA3-91D480CA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357EDBF-97C7-C818-1C2A-BE75ED4BDE3D}"/>
              </a:ext>
            </a:extLst>
          </p:cNvPr>
          <p:cNvSpPr txBox="1"/>
          <p:nvPr/>
        </p:nvSpPr>
        <p:spPr>
          <a:xfrm>
            <a:off x="2238655" y="602275"/>
            <a:ext cx="77146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Casual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7E226E-AADD-1A58-8B8A-26D7C9C29457}"/>
              </a:ext>
            </a:extLst>
          </p:cNvPr>
          <p:cNvSpPr/>
          <p:nvPr/>
        </p:nvSpPr>
        <p:spPr>
          <a:xfrm>
            <a:off x="2930236" y="2265218"/>
            <a:ext cx="1600200" cy="7169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C6F5E6-19F3-E4D3-E9A5-5DBBDBBA5FF1}"/>
              </a:ext>
            </a:extLst>
          </p:cNvPr>
          <p:cNvSpPr/>
          <p:nvPr/>
        </p:nvSpPr>
        <p:spPr>
          <a:xfrm>
            <a:off x="7152410" y="2265218"/>
            <a:ext cx="1600200" cy="7169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5C42F81-4CF5-8D79-0C52-3B75DAC3309C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530436" y="2623704"/>
            <a:ext cx="262197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9C61CE2-5811-6292-F474-CF0DB1628028}"/>
              </a:ext>
            </a:extLst>
          </p:cNvPr>
          <p:cNvSpPr txBox="1"/>
          <p:nvPr/>
        </p:nvSpPr>
        <p:spPr>
          <a:xfrm>
            <a:off x="1972281" y="1566822"/>
            <a:ext cx="2105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Happens-Before</a:t>
            </a:r>
            <a:endParaRPr kumimoji="1" lang="zh-CN" altLang="en-US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68992D-C7AA-429F-70B3-154C00C16A4E}"/>
              </a:ext>
            </a:extLst>
          </p:cNvPr>
          <p:cNvSpPr txBox="1"/>
          <p:nvPr/>
        </p:nvSpPr>
        <p:spPr>
          <a:xfrm>
            <a:off x="1972281" y="3675756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Mutual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Exclusion</a:t>
            </a:r>
            <a:endParaRPr kumimoji="1" lang="zh-CN" altLang="en-US" sz="20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0C39AA-6F62-0F7A-F6C6-0063B81A7B5B}"/>
              </a:ext>
            </a:extLst>
          </p:cNvPr>
          <p:cNvSpPr/>
          <p:nvPr/>
        </p:nvSpPr>
        <p:spPr>
          <a:xfrm>
            <a:off x="3626426" y="4349980"/>
            <a:ext cx="1600200" cy="7169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B1C1DF-B2CA-C966-FDA4-982C9D63F7F1}"/>
              </a:ext>
            </a:extLst>
          </p:cNvPr>
          <p:cNvSpPr/>
          <p:nvPr/>
        </p:nvSpPr>
        <p:spPr>
          <a:xfrm>
            <a:off x="6750625" y="4349980"/>
            <a:ext cx="1600200" cy="7169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1B50DA-5BE2-9A04-7EFB-778A11B95B7A}"/>
              </a:ext>
            </a:extLst>
          </p:cNvPr>
          <p:cNvSpPr/>
          <p:nvPr/>
        </p:nvSpPr>
        <p:spPr>
          <a:xfrm>
            <a:off x="3652874" y="5435218"/>
            <a:ext cx="1600200" cy="7169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D11CA8-9EB7-06A7-8FAF-7D31096D631B}"/>
              </a:ext>
            </a:extLst>
          </p:cNvPr>
          <p:cNvSpPr/>
          <p:nvPr/>
        </p:nvSpPr>
        <p:spPr>
          <a:xfrm>
            <a:off x="6750625" y="5435218"/>
            <a:ext cx="1600200" cy="7169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96BC95D-4B85-C5EB-C306-F1DA335E4D2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226626" y="4708466"/>
            <a:ext cx="152399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5B2453D0-AF4E-CEA6-4A68-BEACC28437C5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>
            <a:off x="5253074" y="5793704"/>
            <a:ext cx="14975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Time Series Analysis Vector Icon 26665420 Vector Art at Vecteezy">
            <a:extLst>
              <a:ext uri="{FF2B5EF4-FFF2-40B4-BE49-F238E27FC236}">
                <a16:creationId xmlns:a16="http://schemas.microsoft.com/office/drawing/2014/main" id="{9065067C-8A21-66F9-C868-17F66F7C8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869" y="2688679"/>
            <a:ext cx="2623704" cy="262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339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18730DF-948B-40B3-F102-51ADF53A6867}"/>
              </a:ext>
            </a:extLst>
          </p:cNvPr>
          <p:cNvSpPr txBox="1"/>
          <p:nvPr/>
        </p:nvSpPr>
        <p:spPr>
          <a:xfrm>
            <a:off x="3918524" y="313385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510ED5-4C45-25B8-F074-0B0EDE93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572" y="1099341"/>
            <a:ext cx="6538855" cy="538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17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1357</Words>
  <Application>Microsoft Macintosh PowerPoint</Application>
  <PresentationFormat>宽屏</PresentationFormat>
  <Paragraphs>193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PingFang SC</vt:lpstr>
      <vt:lpstr>Arial</vt:lpstr>
      <vt:lpstr>Consolas</vt:lpstr>
      <vt:lpstr>open 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Building service dependencies is not easy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Wenbo Qian</dc:creator>
  <cp:lastModifiedBy>Wenbo Qian</cp:lastModifiedBy>
  <cp:revision>6</cp:revision>
  <dcterms:created xsi:type="dcterms:W3CDTF">2026-02-25T04:55:35Z</dcterms:created>
  <dcterms:modified xsi:type="dcterms:W3CDTF">2026-02-25T06:10:04Z</dcterms:modified>
</cp:coreProperties>
</file>