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85" r:id="rId3"/>
    <p:sldId id="307" r:id="rId4"/>
    <p:sldId id="290" r:id="rId5"/>
    <p:sldId id="292" r:id="rId6"/>
    <p:sldId id="274" r:id="rId7"/>
    <p:sldId id="276" r:id="rId8"/>
    <p:sldId id="308" r:id="rId9"/>
    <p:sldId id="269" r:id="rId10"/>
    <p:sldId id="309" r:id="rId11"/>
    <p:sldId id="310" r:id="rId12"/>
    <p:sldId id="295" r:id="rId13"/>
    <p:sldId id="311" r:id="rId14"/>
    <p:sldId id="312" r:id="rId15"/>
    <p:sldId id="297" r:id="rId16"/>
    <p:sldId id="299" r:id="rId17"/>
    <p:sldId id="30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B0A"/>
    <a:srgbClr val="FFEF98"/>
    <a:srgbClr val="FEFFB0"/>
    <a:srgbClr val="FF7371"/>
    <a:srgbClr val="E99E00"/>
    <a:srgbClr val="FFFC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404"/>
  </p:normalViewPr>
  <p:slideViewPr>
    <p:cSldViewPr snapToGrid="0">
      <p:cViewPr>
        <p:scale>
          <a:sx n="153" d="100"/>
          <a:sy n="153" d="100"/>
        </p:scale>
        <p:origin x="800" y="-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009FC-55BD-6144-8170-0823278A0B5C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C5042-F70B-6746-8293-307E710761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1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/>
              <a:t>s the number</a:t>
            </a:r>
            <a:r>
              <a:rPr kumimoji="1" lang="zh-CN" altLang="en-US" dirty="0"/>
              <a:t> </a:t>
            </a:r>
            <a:r>
              <a:rPr kumimoji="1" lang="en-GB" altLang="zh-CN" dirty="0"/>
              <a:t>of interacting </a:t>
            </a:r>
            <a:r>
              <a:rPr kumimoji="1" lang="en-US" altLang="zh-CN" dirty="0"/>
              <a:t>services</a:t>
            </a:r>
            <a:r>
              <a:rPr kumimoji="1" lang="en-GB" altLang="zh-CN" dirty="0"/>
              <a:t> grow, changes such as code updates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GB" altLang="zh-CN" dirty="0"/>
              <a:t>configuration changes or load shifts in one service can</a:t>
            </a:r>
            <a:r>
              <a:rPr kumimoji="1" lang="zh-CN" altLang="en-US" dirty="0"/>
              <a:t> </a:t>
            </a:r>
            <a:r>
              <a:rPr kumimoji="1" lang="en-GB" altLang="zh-CN" dirty="0"/>
              <a:t>lead</a:t>
            </a:r>
            <a:r>
              <a:rPr kumimoji="1" lang="zh-CN" altLang="en-US" dirty="0"/>
              <a:t> </a:t>
            </a:r>
            <a:r>
              <a:rPr kumimoji="1" lang="en-GB" altLang="zh-CN" dirty="0"/>
              <a:t>to subtle interaction and trigger unexpected behavior in other</a:t>
            </a:r>
            <a:r>
              <a:rPr kumimoji="1" lang="zh-CN" altLang="en-US" dirty="0"/>
              <a:t> </a:t>
            </a:r>
            <a:r>
              <a:rPr kumimoji="1" lang="en-GB" altLang="zh-CN" dirty="0" err="1"/>
              <a:t>servic</a:t>
            </a:r>
            <a:r>
              <a:rPr kumimoji="1" lang="en-US" altLang="zh-CN" dirty="0"/>
              <a:t>es.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unexpected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cause</a:t>
            </a:r>
            <a:r>
              <a:rPr kumimoji="1" lang="zh-CN" altLang="en-US" dirty="0"/>
              <a:t> </a:t>
            </a:r>
            <a:r>
              <a:rPr lang="en-GB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catastrophic</a:t>
            </a:r>
            <a:r>
              <a:rPr lang="zh-CN" altLang="en-US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consequence.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507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4F59-C5CB-DF34-9C8E-48341DB0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869472-3187-8A2E-3A32-3DDF40733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F68D85-724F-BA11-4FB9-0C03939DB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approaches to dependency mapping rely on static configuration files, manual documentation, or instrumented distributed tracing. However, these methods have significant limitations: configuration files drift from reality, documentation requires constant maintenance, and tracing instrumentation may be incomplete or unavailable in modern cloud systems.</a:t>
            </a:r>
            <a:endParaRPr lang="en-GB" altLang="zh-CN" b="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2ABDDB-B60F-B76B-6111-F526D8CE0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DA7-CC6F-7740-84FD-04270A106C3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733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approaches to dependency mapping rely on static configuration files, manual documentation, or instrumented distributed tracing. However, these methods have significant limitations: configuration files drift from reality, documentation requires constant maintenance, and tracing instrumentation may be incomplete or unavailable in modern cloud systems.</a:t>
            </a:r>
            <a:endParaRPr lang="en-GB" altLang="zh-CN" b="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DA7-CC6F-7740-84FD-04270A106C3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047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analyzing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kernel/system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evidence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developers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analyze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log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r>
              <a:rPr lang="zh-CN" altLang="en-US" dirty="0"/>
              <a:t> </a:t>
            </a:r>
            <a:r>
              <a:rPr lang="en-US" altLang="zh-CN" dirty="0"/>
              <a:t>dependency.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319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cloudX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confirming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becomes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team-by-team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effort,</a:t>
            </a:r>
            <a:r>
              <a:rPr kumimoji="1" lang="zh-CN" altLang="en-US" dirty="0"/>
              <a:t> </a:t>
            </a:r>
            <a:r>
              <a:rPr lang="en-GB" altLang="zh-CN" dirty="0"/>
              <a:t>where each team inspects their own services</a:t>
            </a:r>
            <a:r>
              <a:rPr lang="zh-CN" altLang="en-US" dirty="0"/>
              <a:t> </a:t>
            </a:r>
            <a:r>
              <a:rPr lang="en-US" altLang="zh-CN" dirty="0"/>
              <a:t>behavior</a:t>
            </a:r>
            <a:r>
              <a:rPr lang="zh-CN" altLang="en-US" dirty="0"/>
              <a:t> </a:t>
            </a:r>
            <a:r>
              <a:rPr lang="en-GB" altLang="zh-CN" dirty="0"/>
              <a:t>independently,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en-GB" altLang="zh-CN" dirty="0"/>
              <a:t> is time-consuming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ask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logs?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6421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hints,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every service produces logs that contain implicit signals about inter-service communication: HTTP requests, RPC calls, database queries, and message queue interactions.</a:t>
            </a:r>
            <a:endParaRPr kumimoji="1" lang="en-US" altLang="zh-CN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40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9826-C53D-767D-5D2F-C8EECC38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7ABA44-3B8C-2F78-33DE-9A6142750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DAC131-3AB0-9F02-B8F3-E3A449FA8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hints,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every service produces logs that contain implicit signals about inter-service communication: HTTP requests, RPC calls, database queries, and message queue interactions.</a:t>
            </a:r>
            <a:endParaRPr kumimoji="1" lang="en-US" altLang="zh-CN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018737-CF2A-0D6A-5238-F439DC201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5976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involved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challenge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is: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 err="1"/>
              <a:t>ccurately</a:t>
            </a:r>
            <a:r>
              <a:rPr kumimoji="1" lang="zh-CN" altLang="en-US" dirty="0"/>
              <a:t> </a:t>
            </a:r>
            <a:r>
              <a:rPr kumimoji="1" lang="en-GB" altLang="zh-CN" dirty="0"/>
              <a:t>reconstruct this hidden interaction from noisy text without</a:t>
            </a:r>
            <a:r>
              <a:rPr kumimoji="1" lang="zh-CN" altLang="en-US" dirty="0"/>
              <a:t> </a:t>
            </a:r>
            <a:r>
              <a:rPr kumimoji="1" lang="en-GB" altLang="zh-CN" dirty="0"/>
              <a:t>requiring domain-specific instrumentation for every new service.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GB" altLang="zh-CN" dirty="0"/>
              <a:t>employs an agent-based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</a:t>
            </a:r>
            <a:r>
              <a:rPr kumimoji="1" lang="en-GB" altLang="zh-CN" dirty="0" err="1"/>
              <a:t>nteraction</a:t>
            </a:r>
            <a:r>
              <a:rPr kumimoji="1" lang="en-GB" altLang="zh-CN" dirty="0"/>
              <a:t> </a:t>
            </a:r>
            <a:r>
              <a:rPr kumimoji="1" lang="en-US" altLang="zh-CN" dirty="0"/>
              <a:t>e</a:t>
            </a:r>
            <a:r>
              <a:rPr kumimoji="1" lang="en-GB" altLang="zh-CN" dirty="0" err="1"/>
              <a:t>xtractor</a:t>
            </a:r>
            <a:r>
              <a:rPr kumimoji="1" lang="en-GB" altLang="zh-CN" dirty="0"/>
              <a:t> to infer interactions between applications</a:t>
            </a:r>
            <a:r>
              <a:rPr kumimoji="1" lang="zh-CN" altLang="en-US" dirty="0"/>
              <a:t> </a:t>
            </a:r>
            <a:r>
              <a:rPr kumimoji="1" lang="en-GB" altLang="zh-CN" dirty="0"/>
              <a:t>using logs and traces outputted from the Lightweight Anomaly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Detector.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668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F59D-E7A8-1B54-6F1E-DA46711C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F172EB-6813-5A15-F18C-1782F252B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39EB3-7BB4-D150-2863-E98CDE9A9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2918A-C1FE-3A82-9DBF-CA6F4550E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308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65C7-8B20-A258-C4CE-244CA8A2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DC36B5-495F-19A2-7E91-5E2E8C4CA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BB73E2-0A40-9EB8-3010-5CD9B141D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E64C8-8E40-BEFB-B5FB-678CDDB00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3825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8E83-4370-6539-491B-FB3C6A6E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8AA750-76C0-F247-6AE0-80CF3F793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2DECA6-01B8-08E0-4F6F-35C680B2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C8BA04-386A-8DC1-A5AB-04F536E89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473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1D7DF-980E-C42A-70EE-919E17865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1BAAD3-D0BB-0E7C-4ECE-691144A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52853-51A9-1D1B-A04C-9C37CFFD7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DDE9B-7710-F0A0-5D28-48C6EC4C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FA4DD-04C5-6E98-C7C1-E74F4929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77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35F55-BD29-0164-EC11-56CFCAB1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A898D0-48BE-4B69-165F-4EF653D09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3FDBDC-8E33-4A62-CA7C-338FB39D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FC4AB-7E30-8AA1-5696-6E83ED3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BF18D-28A7-D327-F870-6E880BC2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51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88BA5-7579-43C5-A4F6-CD75B400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539AFC-40FF-C615-811F-E2A55C9C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61DF4-13A4-1E0E-83DE-47E58996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833DB-DA1B-DBAB-D8B6-D22681EF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DFAA0E-E504-AF5B-9D68-D3A90AD2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1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56134-1663-6A9E-4C9B-2E75A4F1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98B39-6398-DDB3-9F7E-0A3FA30E1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3B8B37-23A9-5530-909A-AC061718D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7FA16-CD46-7A74-A747-B6B04234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B4A5E-C720-6974-EA81-D091DC9E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8728A-8D09-D9E3-B404-F1FEFE2F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18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4143-07B0-E1BB-E5A3-B51A6BAC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267B9F-F51C-2BCC-015F-6EC2D1299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1DF94-529A-525C-5DE9-1A704BCEB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731F67-D876-7784-C10D-3753254D7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5051D8-82C2-BD5A-292A-9225E434E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9D7745-D132-28BF-194C-452356E2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15350F-B25C-BD1A-FD01-8924AC63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C4F9DC-2722-A7CD-0B43-D31198F2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7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2A688-6D4F-B2A6-52AC-798435BF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EA38CA-D26B-EB8C-D9C7-FCA7E3A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C58D24-E658-382D-8BB7-ACE6035B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071CB0-ECB1-54A2-23EB-DFA0BB43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53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581BD-6D54-3741-976F-9E92443D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399858-F94E-3752-6419-37FE7E5C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67263-C714-D4C0-2813-D081DBE3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7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6335-850C-58E4-7E6E-39394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30CFB-5D62-A473-CA14-38848B4CB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FAFC62-8A31-8442-C15F-AA3200045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0686A4-E7EB-39B6-AC66-51BBA0ED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D05A0E-748A-7CC9-BB28-600901B1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0198ED-182D-3641-669F-6964AE7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022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8CC5B-A672-33CB-7BA7-D1071955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7D3025-07E4-F6FF-F643-414CAC72F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E9FACB-93DD-536F-8BB4-0F5E9F6E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39C0D-293A-F3C5-B406-D377EB64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51156-EF94-DD1D-F469-6B943B5A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DA4A1-77C7-1A50-7E25-F742955B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38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64232-D5FC-EFC1-081A-8BB771A2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52CAA6-79F8-5BC2-CD08-46CFCFAE6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D9DD8-F7AF-6225-5090-43FE784C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DB436-5B85-4F18-B256-F627303F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08E20-AFCA-BBAC-10A2-A3BC926F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47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257F05-A86C-1F83-37FD-328D39736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5B1C48-98B7-8155-4239-F74E6C3DD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8B2F8-6030-D10C-6F31-56509983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3141B-C90A-5426-B094-D830E879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ACF52-C811-56B7-F044-B93E7F13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376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30FC9A-3DF5-2915-E7AA-F57C852B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48567-1102-519D-0B24-0AC0D6BB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AF1E9-AAB6-EAF1-68F0-987C440AC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F1368-D9A4-1C42-A8C3-6651B3568D9D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3A7BE-EFDC-FA37-BFD0-468B54BB8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2D34B-7D61-A8E8-A5DB-AB9989011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35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13223F-A5D2-B15F-CB07-EE7986C658EA}"/>
              </a:ext>
            </a:extLst>
          </p:cNvPr>
          <p:cNvSpPr txBox="1"/>
          <p:nvPr/>
        </p:nvSpPr>
        <p:spPr>
          <a:xfrm>
            <a:off x="1018703" y="2049882"/>
            <a:ext cx="10154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Distributed Services Dependency </a:t>
            </a:r>
            <a:r>
              <a:rPr lang="en-GB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 from Log</a:t>
            </a:r>
            <a:endParaRPr lang="en-GB" altLang="zh-CN" sz="4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C9D0A-5C52-CACD-2C31-FAA0AC6287FE}"/>
              </a:ext>
            </a:extLst>
          </p:cNvPr>
          <p:cNvSpPr txBox="1"/>
          <p:nvPr/>
        </p:nvSpPr>
        <p:spPr>
          <a:xfrm>
            <a:off x="2782465" y="3976500"/>
            <a:ext cx="66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Proposer: Wenbo Qian</a:t>
            </a:r>
            <a:endParaRPr lang="en-GB" altLang="zh-CN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Mentors: Alison Yao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95" name="直线箭头连接符 32794">
            <a:extLst>
              <a:ext uri="{FF2B5EF4-FFF2-40B4-BE49-F238E27FC236}">
                <a16:creationId xmlns:a16="http://schemas.microsoft.com/office/drawing/2014/main" id="{9BA507B6-3596-3CFB-7ADC-2154B7E960E7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757503" y="3156820"/>
            <a:ext cx="6860" cy="2268945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326692" y="1841590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4405970" y="571513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96CACC8-EB77-3588-B6B6-7061BC8CB8D6}"/>
              </a:ext>
            </a:extLst>
          </p:cNvPr>
          <p:cNvSpPr/>
          <p:nvPr/>
        </p:nvSpPr>
        <p:spPr>
          <a:xfrm>
            <a:off x="4425879" y="18699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FF7E3CB-5114-589E-EEE3-ADDC2DE56044}"/>
              </a:ext>
            </a:extLst>
          </p:cNvPr>
          <p:cNvSpPr/>
          <p:nvPr/>
        </p:nvSpPr>
        <p:spPr>
          <a:xfrm>
            <a:off x="4442865" y="3314393"/>
            <a:ext cx="2420826" cy="887192"/>
          </a:xfrm>
          <a:prstGeom prst="roundRect">
            <a:avLst/>
          </a:prstGeom>
          <a:solidFill>
            <a:srgbClr val="C0000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68EBB79-0CAA-0BA1-4E0B-72F02258F533}"/>
              </a:ext>
            </a:extLst>
          </p:cNvPr>
          <p:cNvSpPr/>
          <p:nvPr/>
        </p:nvSpPr>
        <p:spPr>
          <a:xfrm>
            <a:off x="7745551" y="2665246"/>
            <a:ext cx="1924656" cy="831656"/>
          </a:xfrm>
          <a:prstGeom prst="roundRect">
            <a:avLst/>
          </a:prstGeom>
          <a:solidFill>
            <a:srgbClr val="7030A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36F35F8-868F-F623-FEB1-0A9F17A3CED9}"/>
              </a:ext>
            </a:extLst>
          </p:cNvPr>
          <p:cNvSpPr/>
          <p:nvPr/>
        </p:nvSpPr>
        <p:spPr>
          <a:xfrm>
            <a:off x="7745551" y="1383663"/>
            <a:ext cx="1924656" cy="831656"/>
          </a:xfrm>
          <a:prstGeom prst="roundRect">
            <a:avLst/>
          </a:prstGeom>
          <a:solidFill>
            <a:srgbClr val="FF2F92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</a:p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CD6BC44-BB49-0FFE-AB34-2595BA2CC260}"/>
              </a:ext>
            </a:extLst>
          </p:cNvPr>
          <p:cNvSpPr/>
          <p:nvPr/>
        </p:nvSpPr>
        <p:spPr>
          <a:xfrm>
            <a:off x="10349558" y="2099249"/>
            <a:ext cx="1669224" cy="718702"/>
          </a:xfrm>
          <a:prstGeom prst="roundRect">
            <a:avLst/>
          </a:prstGeom>
          <a:solidFill>
            <a:schemeClr val="accent2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more…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2FEFB94-7497-D756-39AA-32F86D268775}"/>
              </a:ext>
            </a:extLst>
          </p:cNvPr>
          <p:cNvCxnSpPr>
            <a:cxnSpLocks/>
          </p:cNvCxnSpPr>
          <p:nvPr/>
        </p:nvCxnSpPr>
        <p:spPr>
          <a:xfrm flipH="1">
            <a:off x="5921075" y="4223387"/>
            <a:ext cx="1428707" cy="1132677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1A7F2DB-F87D-A676-A674-23A7038CC33B}"/>
              </a:ext>
            </a:extLst>
          </p:cNvPr>
          <p:cNvCxnSpPr>
            <a:cxnSpLocks/>
          </p:cNvCxnSpPr>
          <p:nvPr/>
        </p:nvCxnSpPr>
        <p:spPr>
          <a:xfrm>
            <a:off x="4536388" y="4414998"/>
            <a:ext cx="970487" cy="941066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2FDC922-0DF3-6C79-338A-2474B841584C}"/>
              </a:ext>
            </a:extLst>
          </p:cNvPr>
          <p:cNvCxnSpPr>
            <a:cxnSpLocks/>
          </p:cNvCxnSpPr>
          <p:nvPr/>
        </p:nvCxnSpPr>
        <p:spPr>
          <a:xfrm>
            <a:off x="6863691" y="1089587"/>
            <a:ext cx="800107" cy="51028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4DA46AA-BE29-7225-F084-90B57AF5D5EB}"/>
              </a:ext>
            </a:extLst>
          </p:cNvPr>
          <p:cNvCxnSpPr>
            <a:cxnSpLocks/>
          </p:cNvCxnSpPr>
          <p:nvPr/>
        </p:nvCxnSpPr>
        <p:spPr>
          <a:xfrm flipV="1">
            <a:off x="6938592" y="1715072"/>
            <a:ext cx="782563" cy="5002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F9DFC09-7AF3-12D9-E5AC-B40BDCAA8B53}"/>
              </a:ext>
            </a:extLst>
          </p:cNvPr>
          <p:cNvCxnSpPr>
            <a:cxnSpLocks/>
          </p:cNvCxnSpPr>
          <p:nvPr/>
        </p:nvCxnSpPr>
        <p:spPr>
          <a:xfrm>
            <a:off x="6978410" y="2471747"/>
            <a:ext cx="742745" cy="5826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5E718E-0087-01AB-8C94-1677FFC88E41}"/>
              </a:ext>
            </a:extLst>
          </p:cNvPr>
          <p:cNvCxnSpPr>
            <a:cxnSpLocks/>
          </p:cNvCxnSpPr>
          <p:nvPr/>
        </p:nvCxnSpPr>
        <p:spPr>
          <a:xfrm flipV="1">
            <a:off x="6978410" y="3224354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1F7B1B9-B497-7047-E12B-4AFAF4EBB1DD}"/>
              </a:ext>
            </a:extLst>
          </p:cNvPr>
          <p:cNvCxnSpPr>
            <a:cxnSpLocks/>
          </p:cNvCxnSpPr>
          <p:nvPr/>
        </p:nvCxnSpPr>
        <p:spPr>
          <a:xfrm flipV="1">
            <a:off x="9711953" y="2724248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9D77C9EC-37D8-D82C-795F-8586FFB0F230}"/>
              </a:ext>
            </a:extLst>
          </p:cNvPr>
          <p:cNvCxnSpPr>
            <a:cxnSpLocks/>
          </p:cNvCxnSpPr>
          <p:nvPr/>
        </p:nvCxnSpPr>
        <p:spPr>
          <a:xfrm>
            <a:off x="9688271" y="1799491"/>
            <a:ext cx="552454" cy="346069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72" name="Picture 4" descr="Flexible deployment Vector Icons free download in SVG, PNG Format">
            <a:extLst>
              <a:ext uri="{FF2B5EF4-FFF2-40B4-BE49-F238E27FC236}">
                <a16:creationId xmlns:a16="http://schemas.microsoft.com/office/drawing/2014/main" id="{85D2F0BE-5EE8-D8EF-005D-44D6AC992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239" y="3294206"/>
            <a:ext cx="1222783" cy="122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8" name="Picture 10" descr="File code icon vector - Free Download (SVG, PNG, EPS, JPG)">
            <a:extLst>
              <a:ext uri="{FF2B5EF4-FFF2-40B4-BE49-F238E27FC236}">
                <a16:creationId xmlns:a16="http://schemas.microsoft.com/office/drawing/2014/main" id="{3F288DC6-689D-2ED1-FAEA-BE0A1DD8C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005" y="3742274"/>
            <a:ext cx="800107" cy="80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FAB7AC69-2F74-C1E2-9EAA-FB27F032A5BC}"/>
              </a:ext>
            </a:extLst>
          </p:cNvPr>
          <p:cNvSpPr txBox="1"/>
          <p:nvPr/>
        </p:nvSpPr>
        <p:spPr>
          <a:xfrm>
            <a:off x="1397743" y="4168567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13E2B2B-5C2D-7734-FE37-A2AF1E10CA25}"/>
              </a:ext>
            </a:extLst>
          </p:cNvPr>
          <p:cNvSpPr txBox="1"/>
          <p:nvPr/>
        </p:nvSpPr>
        <p:spPr>
          <a:xfrm>
            <a:off x="8378120" y="3908349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363DC3C-BC29-F052-DA20-2BA565B72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112" y="2686843"/>
            <a:ext cx="706706" cy="605748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F5645360-D425-4FCB-1712-9D4AFCB41883}"/>
              </a:ext>
            </a:extLst>
          </p:cNvPr>
          <p:cNvSpPr txBox="1"/>
          <p:nvPr/>
        </p:nvSpPr>
        <p:spPr>
          <a:xfrm>
            <a:off x="4753919" y="2695155"/>
            <a:ext cx="200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83" name="直线箭头连接符 32782">
            <a:extLst>
              <a:ext uri="{FF2B5EF4-FFF2-40B4-BE49-F238E27FC236}">
                <a16:creationId xmlns:a16="http://schemas.microsoft.com/office/drawing/2014/main" id="{099938BD-A577-25B0-1639-D5125496E806}"/>
              </a:ext>
            </a:extLst>
          </p:cNvPr>
          <p:cNvCxnSpPr>
            <a:cxnSpLocks/>
          </p:cNvCxnSpPr>
          <p:nvPr/>
        </p:nvCxnSpPr>
        <p:spPr>
          <a:xfrm>
            <a:off x="2627814" y="2649911"/>
            <a:ext cx="1708902" cy="91049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5" name="直线箭头连接符 32784">
            <a:extLst>
              <a:ext uri="{FF2B5EF4-FFF2-40B4-BE49-F238E27FC236}">
                <a16:creationId xmlns:a16="http://schemas.microsoft.com/office/drawing/2014/main" id="{77493D2A-097F-CC58-ECBE-B0459AAA8932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27814" y="987342"/>
            <a:ext cx="1778156" cy="122797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7" name="直线箭头连接符 32786">
            <a:extLst>
              <a:ext uri="{FF2B5EF4-FFF2-40B4-BE49-F238E27FC236}">
                <a16:creationId xmlns:a16="http://schemas.microsoft.com/office/drawing/2014/main" id="{25FD19AC-52A9-4774-EA48-17ACCBAFC3E6}"/>
              </a:ext>
            </a:extLst>
          </p:cNvPr>
          <p:cNvCxnSpPr>
            <a:cxnSpLocks/>
          </p:cNvCxnSpPr>
          <p:nvPr/>
        </p:nvCxnSpPr>
        <p:spPr>
          <a:xfrm>
            <a:off x="2627814" y="2458600"/>
            <a:ext cx="1678864" cy="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809F8E85-8FC8-03A5-BA84-4DD0850A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052" y="5356064"/>
            <a:ext cx="1143131" cy="15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2FDC6C0-B4B1-761E-6DBB-BD2C5D6CFBDC}"/>
              </a:ext>
            </a:extLst>
          </p:cNvPr>
          <p:cNvSpPr txBox="1"/>
          <p:nvPr/>
        </p:nvSpPr>
        <p:spPr>
          <a:xfrm>
            <a:off x="170093" y="32904"/>
            <a:ext cx="3352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</a:rPr>
              <a:t>Complex Service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</a:rPr>
              <a:t>Interaction</a:t>
            </a:r>
            <a:endParaRPr kumimoji="1" lang="zh-CN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97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3818-95F8-B7DB-1A29-009083F4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B1B70-2616-1269-9AEF-066E359B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684"/>
            <a:ext cx="10903527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tracing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necessary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debugging</a:t>
            </a:r>
            <a:endParaRPr kumimoji="1"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races shown in the LogicMonitor platform">
            <a:extLst>
              <a:ext uri="{FF2B5EF4-FFF2-40B4-BE49-F238E27FC236}">
                <a16:creationId xmlns:a16="http://schemas.microsoft.com/office/drawing/2014/main" id="{5EB1F7C9-6A5D-974B-FC8C-F02106C1B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66" y="1596044"/>
            <a:ext cx="8725469" cy="460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93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448D-BD4E-8E08-FEE5-37219A14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73" y="500062"/>
            <a:ext cx="10903527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zh-CN" sz="4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ependenc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zh-CN" alt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kumimoji="1" lang="zh-CN" altLang="en-US" sz="4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343CC-B4BE-27F7-2C9E-65BCBB34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Traditional approaches</a:t>
            </a:r>
            <a:r>
              <a:rPr lang="zh-CN" altLang="en-US" dirty="0"/>
              <a:t> </a:t>
            </a:r>
            <a:r>
              <a:rPr lang="en-GB" altLang="zh-CN" dirty="0"/>
              <a:t>are impractical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GB" altLang="zh-CN" dirty="0"/>
              <a:t>modern cloud systems</a:t>
            </a:r>
          </a:p>
          <a:p>
            <a:pPr lvl="1"/>
            <a:r>
              <a:rPr lang="en-GB" altLang="zh-CN" dirty="0"/>
              <a:t>Documentation becomes outdated quickly and requires continuous maintenance.</a:t>
            </a:r>
          </a:p>
          <a:p>
            <a:pPr lvl="1"/>
            <a:r>
              <a:rPr lang="en-GB" altLang="zh-CN" dirty="0"/>
              <a:t>Tracing across heterogeneous tech stacks demands heavy engineering effort.</a:t>
            </a:r>
          </a:p>
          <a:p>
            <a:pPr lvl="1"/>
            <a:r>
              <a:rPr lang="en-GB" altLang="zh-CN" dirty="0"/>
              <a:t>Service context isn’t shared effectively across teams, hindering</a:t>
            </a:r>
            <a:r>
              <a:rPr lang="zh-CN" altLang="en-US" dirty="0"/>
              <a:t> </a:t>
            </a:r>
            <a:r>
              <a:rPr lang="en-GB" altLang="zh-CN" dirty="0"/>
              <a:t>coordination.</a:t>
            </a:r>
          </a:p>
          <a:p>
            <a:pPr lvl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81041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98654" y="1528992"/>
          <a:ext cx="11832077" cy="316085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sz="2000" dirty="0"/>
                        <a:t> invoked </a:t>
                      </a:r>
                      <a:r>
                        <a:rPr lang="en-GB" altLang="zh-CN" sz="2000" dirty="0" err="1"/>
                        <a:t>oom</a:t>
                      </a:r>
                      <a:r>
                        <a:rPr lang="en-GB" altLang="zh-CN" sz="2000" dirty="0"/>
                        <a:t>-killer</a:t>
                      </a:r>
                      <a:r>
                        <a:rPr lang="en-US" altLang="zh-CN" sz="2000" dirty="0"/>
                        <a:t>: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GB" altLang="zh-CN" sz="2000" dirty="0" err="1"/>
                        <a:t>gfp_mask</a:t>
                      </a:r>
                      <a:r>
                        <a:rPr lang="en-GB" altLang="zh-CN" sz="2000" dirty="0"/>
                        <a:t>=0xcc0(GFP_KERNEL)</a:t>
                      </a:r>
                      <a:r>
                        <a:rPr lang="en-US" altLang="zh-CN" sz="2000" dirty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 err="1"/>
                        <a:t>oomkill:constraint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0" dirty="0" err="1"/>
                        <a:t>CONSTRAINT_MEMCG</a:t>
                      </a:r>
                      <a:r>
                        <a:rPr lang="en-GB" altLang="zh-CN" sz="2000" dirty="0" err="1"/>
                        <a:t>,nodemask</a:t>
                      </a:r>
                      <a:r>
                        <a:rPr lang="en-GB" altLang="zh-CN" sz="2000" dirty="0"/>
                        <a:t>=(null),</a:t>
                      </a:r>
                      <a:r>
                        <a:rPr lang="en-GB" altLang="zh-CN" sz="2000" dirty="0" err="1"/>
                        <a:t>cpuset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dirty="0" err="1"/>
                        <a:t>support.slice,mems_allowed</a:t>
                      </a:r>
                      <a:r>
                        <a:rPr lang="en-GB" altLang="zh-CN" sz="2000" dirty="0"/>
                        <a:t>=0,oom_memcg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</a:t>
                      </a:r>
                      <a:r>
                        <a:rPr lang="en-GB" altLang="zh-CN" sz="2000" b="1" dirty="0"/>
                        <a:t>RepairAgent.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sz="2000" dirty="0"/>
                        <a:t>,task_memcg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/RepairAgent.RepairAgent_23_9_7003_0.service</a:t>
                      </a:r>
                      <a:r>
                        <a:rPr lang="en-GB" altLang="zh-CN" sz="2000" dirty="0"/>
                        <a:t>,task=</a:t>
                      </a:r>
                      <a:r>
                        <a:rPr lang="en-GB" altLang="zh-CN" sz="2000" b="1" dirty="0" err="1"/>
                        <a:t>RepairAgent</a:t>
                      </a:r>
                      <a:r>
                        <a:rPr lang="en-GB" altLang="zh-CN" sz="2000" dirty="0" err="1"/>
                        <a:t>,</a:t>
                      </a:r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pid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=3820648</a:t>
                      </a:r>
                      <a:r>
                        <a:rPr lang="en-GB" altLang="zh-CN" sz="2000" dirty="0"/>
                        <a:t>,uid=0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0054" y="481661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EE9869-5FD3-99B0-683C-7036E0161FB1}"/>
              </a:ext>
            </a:extLst>
          </p:cNvPr>
          <p:cNvSpPr txBox="1"/>
          <p:nvPr/>
        </p:nvSpPr>
        <p:spPr>
          <a:xfrm>
            <a:off x="1947329" y="5721562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C3D9DE-44B3-C220-6108-A3820B54DD43}"/>
              </a:ext>
            </a:extLst>
          </p:cNvPr>
          <p:cNvSpPr txBox="1"/>
          <p:nvPr/>
        </p:nvSpPr>
        <p:spPr>
          <a:xfrm>
            <a:off x="7838349" y="5721562"/>
            <a:ext cx="231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61BC912-5B44-E6A9-7C9D-0AB164695C55}"/>
              </a:ext>
            </a:extLst>
          </p:cNvPr>
          <p:cNvCxnSpPr>
            <a:cxnSpLocks/>
          </p:cNvCxnSpPr>
          <p:nvPr/>
        </p:nvCxnSpPr>
        <p:spPr>
          <a:xfrm>
            <a:off x="4366017" y="5983171"/>
            <a:ext cx="3249038" cy="0"/>
          </a:xfrm>
          <a:prstGeom prst="straightConnector1">
            <a:avLst/>
          </a:prstGeom>
          <a:ln w="63500">
            <a:solidFill>
              <a:schemeClr val="accent3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 descr="问号 纯色填充">
            <a:extLst>
              <a:ext uri="{FF2B5EF4-FFF2-40B4-BE49-F238E27FC236}">
                <a16:creationId xmlns:a16="http://schemas.microsoft.com/office/drawing/2014/main" id="{B89A0A1A-B315-5E5C-19CB-741E31DE3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055" y="5371465"/>
            <a:ext cx="1223411" cy="12234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3DF052-515C-87B8-610F-E164E1A32571}"/>
              </a:ext>
            </a:extLst>
          </p:cNvPr>
          <p:cNvSpPr txBox="1"/>
          <p:nvPr/>
        </p:nvSpPr>
        <p:spPr>
          <a:xfrm>
            <a:off x="1525499" y="336219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99676" y="1295473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9992F48-CF8C-4139-CCD4-A6D52CC690D0}"/>
              </a:ext>
            </a:extLst>
          </p:cNvPr>
          <p:cNvSpPr txBox="1"/>
          <p:nvPr/>
        </p:nvSpPr>
        <p:spPr>
          <a:xfrm>
            <a:off x="5538881" y="522034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1868" y="408185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E8DD6A-056E-7957-0FDA-6D02A9BB26D4}"/>
              </a:ext>
            </a:extLst>
          </p:cNvPr>
          <p:cNvSpPr txBox="1"/>
          <p:nvPr/>
        </p:nvSpPr>
        <p:spPr>
          <a:xfrm>
            <a:off x="4046121" y="5434535"/>
            <a:ext cx="155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3C6B8C-F0E7-6055-3AF4-26C39D24BCF1}"/>
              </a:ext>
            </a:extLst>
          </p:cNvPr>
          <p:cNvSpPr txBox="1"/>
          <p:nvPr/>
        </p:nvSpPr>
        <p:spPr>
          <a:xfrm>
            <a:off x="6124598" y="5434535"/>
            <a:ext cx="1268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形 27" descr="研究 纯色填充">
            <a:extLst>
              <a:ext uri="{FF2B5EF4-FFF2-40B4-BE49-F238E27FC236}">
                <a16:creationId xmlns:a16="http://schemas.microsoft.com/office/drawing/2014/main" id="{5011FF55-8629-F7F0-0032-650347CBF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32" y="5769689"/>
            <a:ext cx="860037" cy="86003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064F703-777F-48B8-2E5D-9A3775689278}"/>
              </a:ext>
            </a:extLst>
          </p:cNvPr>
          <p:cNvSpPr txBox="1"/>
          <p:nvPr/>
        </p:nvSpPr>
        <p:spPr>
          <a:xfrm>
            <a:off x="0" y="6466633"/>
            <a:ext cx="2627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Team-by-team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effort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F38647B-D5DA-4323-0408-D1ADBBF96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" y="4897201"/>
            <a:ext cx="3553839" cy="94222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B3E002F6-399D-054A-8192-5EC8435F9633}"/>
              </a:ext>
            </a:extLst>
          </p:cNvPr>
          <p:cNvSpPr txBox="1"/>
          <p:nvPr/>
        </p:nvSpPr>
        <p:spPr>
          <a:xfrm>
            <a:off x="8350192" y="538962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5901120-3032-D97A-22A0-599B8114C500}"/>
              </a:ext>
            </a:extLst>
          </p:cNvPr>
          <p:cNvSpPr txBox="1"/>
          <p:nvPr/>
        </p:nvSpPr>
        <p:spPr>
          <a:xfrm>
            <a:off x="9685901" y="5389626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A1E816-1C8A-1927-3B28-41D303D05271}"/>
              </a:ext>
            </a:extLst>
          </p:cNvPr>
          <p:cNvSpPr txBox="1"/>
          <p:nvPr/>
        </p:nvSpPr>
        <p:spPr>
          <a:xfrm>
            <a:off x="7237900" y="498825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message </a:t>
            </a:r>
          </a:p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1B7670-B216-1AD7-5F25-9E8C18D7C541}"/>
              </a:ext>
            </a:extLst>
          </p:cNvPr>
          <p:cNvSpPr txBox="1"/>
          <p:nvPr/>
        </p:nvSpPr>
        <p:spPr>
          <a:xfrm>
            <a:off x="8912143" y="516127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Rpc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C0AA724-99ED-AE42-A6E2-FF9A1174156C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5598149" y="5634590"/>
            <a:ext cx="5264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CC645A-FC71-492C-01F1-02043E9A8381}"/>
              </a:ext>
            </a:extLst>
          </p:cNvPr>
          <p:cNvCxnSpPr>
            <a:cxnSpLocks/>
          </p:cNvCxnSpPr>
          <p:nvPr/>
        </p:nvCxnSpPr>
        <p:spPr>
          <a:xfrm>
            <a:off x="7428750" y="5634590"/>
            <a:ext cx="881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CB78F88F-4A43-8FAE-399F-CC0EB19CE11A}"/>
              </a:ext>
            </a:extLst>
          </p:cNvPr>
          <p:cNvCxnSpPr/>
          <p:nvPr/>
        </p:nvCxnSpPr>
        <p:spPr>
          <a:xfrm>
            <a:off x="8870121" y="5627587"/>
            <a:ext cx="662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31F8AC2C-2FD1-BF07-5B13-827133A82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183" y="5932953"/>
            <a:ext cx="590550" cy="6096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E2F137F-F66C-2DD4-0C25-C2C1E3C1D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320" y="5928217"/>
            <a:ext cx="590550" cy="6096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39C6E550-35AC-2277-9446-068267C8F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788" y="5907214"/>
            <a:ext cx="590550" cy="6096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DFD02DF8-7D48-0179-9AD4-A4807DA0935A}"/>
              </a:ext>
            </a:extLst>
          </p:cNvPr>
          <p:cNvSpPr txBox="1"/>
          <p:nvPr/>
        </p:nvSpPr>
        <p:spPr>
          <a:xfrm>
            <a:off x="4381482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0,2</a:t>
            </a:r>
            <a:endParaRPr kumimoji="1" lang="zh-CN" altLang="en-US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B60475-B65D-B8E4-2B7E-743AAB0FB70F}"/>
              </a:ext>
            </a:extLst>
          </p:cNvPr>
          <p:cNvSpPr txBox="1"/>
          <p:nvPr/>
        </p:nvSpPr>
        <p:spPr>
          <a:xfrm>
            <a:off x="6253878" y="57889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1,3</a:t>
            </a:r>
            <a:endParaRPr kumimoji="1"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6C1ED1-6C0C-2885-FCB9-F2C3C81A6CAA}"/>
              </a:ext>
            </a:extLst>
          </p:cNvPr>
          <p:cNvSpPr txBox="1"/>
          <p:nvPr/>
        </p:nvSpPr>
        <p:spPr>
          <a:xfrm>
            <a:off x="8723915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0,3</a:t>
            </a:r>
            <a:endParaRPr kumimoji="1" lang="zh-CN" altLang="en-US" b="1" dirty="0"/>
          </a:p>
        </p:txBody>
      </p: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582932AD-A80A-76C0-659B-01E199778B56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rot="5400000">
            <a:off x="3584123" y="2657750"/>
            <a:ext cx="446010" cy="4032893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483B33A4-2059-8D04-7B06-993681A9A7C9}"/>
              </a:ext>
            </a:extLst>
          </p:cNvPr>
          <p:cNvCxnSpPr>
            <a:cxnSpLocks/>
            <a:stCxn id="44" idx="2"/>
            <a:endCxn id="30" idx="2"/>
          </p:cNvCxnSpPr>
          <p:nvPr/>
        </p:nvCxnSpPr>
        <p:spPr>
          <a:xfrm rot="5400000" flipH="1">
            <a:off x="3220899" y="4409211"/>
            <a:ext cx="299592" cy="3160028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>
            <a:extLst>
              <a:ext uri="{FF2B5EF4-FFF2-40B4-BE49-F238E27FC236}">
                <a16:creationId xmlns:a16="http://schemas.microsoft.com/office/drawing/2014/main" id="{82FD08E9-2A89-5D95-2B01-6DAAB9B23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339" y="4091665"/>
            <a:ext cx="590550" cy="609600"/>
          </a:xfrm>
          <a:prstGeom prst="rect">
            <a:avLst/>
          </a:prstGeom>
        </p:spPr>
      </p:pic>
      <p:cxnSp>
        <p:nvCxnSpPr>
          <p:cNvPr id="61" name="肘形连接符 60">
            <a:extLst>
              <a:ext uri="{FF2B5EF4-FFF2-40B4-BE49-F238E27FC236}">
                <a16:creationId xmlns:a16="http://schemas.microsoft.com/office/drawing/2014/main" id="{8C962114-BFC3-99BD-D204-7570796AD0D7}"/>
              </a:ext>
            </a:extLst>
          </p:cNvPr>
          <p:cNvCxnSpPr>
            <a:stCxn id="45" idx="2"/>
            <a:endCxn id="30" idx="2"/>
          </p:cNvCxnSpPr>
          <p:nvPr/>
        </p:nvCxnSpPr>
        <p:spPr>
          <a:xfrm rot="5400000" flipH="1">
            <a:off x="4147447" y="3482663"/>
            <a:ext cx="318892" cy="5032424"/>
          </a:xfrm>
          <a:prstGeom prst="bentConnector3">
            <a:avLst>
              <a:gd name="adj1" fmla="val -71686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22A0ABD5-83D7-A0A4-3021-5EA0372E5339}"/>
              </a:ext>
            </a:extLst>
          </p:cNvPr>
          <p:cNvCxnSpPr>
            <a:stCxn id="46" idx="2"/>
            <a:endCxn id="30" idx="2"/>
          </p:cNvCxnSpPr>
          <p:nvPr/>
        </p:nvCxnSpPr>
        <p:spPr>
          <a:xfrm rot="5400000" flipH="1">
            <a:off x="5392116" y="2237995"/>
            <a:ext cx="299592" cy="7502461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6229D93-2334-6B5A-D164-B28DF936C21A}"/>
              </a:ext>
            </a:extLst>
          </p:cNvPr>
          <p:cNvSpPr txBox="1"/>
          <p:nvPr/>
        </p:nvSpPr>
        <p:spPr>
          <a:xfrm>
            <a:off x="1525499" y="198955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9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342794" y="524473"/>
            <a:ext cx="11506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Services Dependency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FE133D-A7E1-2ACE-E9A2-27F036C6B0F8}"/>
              </a:ext>
            </a:extLst>
          </p:cNvPr>
          <p:cNvSpPr/>
          <p:nvPr/>
        </p:nvSpPr>
        <p:spPr>
          <a:xfrm>
            <a:off x="786540" y="5325364"/>
            <a:ext cx="4793378" cy="58441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6B17A5-373F-3DB7-ECAB-9B186AA76CC0}"/>
              </a:ext>
            </a:extLst>
          </p:cNvPr>
          <p:cNvCxnSpPr>
            <a:cxnSpLocks/>
          </p:cNvCxnSpPr>
          <p:nvPr/>
        </p:nvCxnSpPr>
        <p:spPr>
          <a:xfrm>
            <a:off x="5846956" y="3779350"/>
            <a:ext cx="0" cy="58323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2">
            <a:extLst>
              <a:ext uri="{FF2B5EF4-FFF2-40B4-BE49-F238E27FC236}">
                <a16:creationId xmlns:a16="http://schemas.microsoft.com/office/drawing/2014/main" id="{8F0DA9D3-FECB-396F-71CC-39A251BEA9FC}"/>
              </a:ext>
            </a:extLst>
          </p:cNvPr>
          <p:cNvGraphicFramePr>
            <a:graphicFrameLocks noGrp="1"/>
          </p:cNvGraphicFramePr>
          <p:nvPr/>
        </p:nvGraphicFramePr>
        <p:xfrm>
          <a:off x="179961" y="1777254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1FAF4AE-6244-7825-B2E8-BBAE04C68F3D}"/>
              </a:ext>
            </a:extLst>
          </p:cNvPr>
          <p:cNvSpPr txBox="1"/>
          <p:nvPr/>
        </p:nvSpPr>
        <p:spPr>
          <a:xfrm>
            <a:off x="786540" y="5356141"/>
            <a:ext cx="4870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D61E57-DF2F-F574-FBC6-B2710F9796E8}"/>
              </a:ext>
            </a:extLst>
          </p:cNvPr>
          <p:cNvSpPr/>
          <p:nvPr/>
        </p:nvSpPr>
        <p:spPr>
          <a:xfrm>
            <a:off x="6998416" y="5399106"/>
            <a:ext cx="3581030" cy="47819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79B0D-95B9-CE28-B27C-2A29BFD6BC90}"/>
              </a:ext>
            </a:extLst>
          </p:cNvPr>
          <p:cNvSpPr txBox="1"/>
          <p:nvPr/>
        </p:nvSpPr>
        <p:spPr>
          <a:xfrm>
            <a:off x="6998417" y="5399107"/>
            <a:ext cx="3724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63C3876-7655-1658-709C-ABE54074843E}"/>
              </a:ext>
            </a:extLst>
          </p:cNvPr>
          <p:cNvCxnSpPr>
            <a:cxnSpLocks/>
          </p:cNvCxnSpPr>
          <p:nvPr/>
        </p:nvCxnSpPr>
        <p:spPr>
          <a:xfrm>
            <a:off x="3326860" y="4680192"/>
            <a:ext cx="0" cy="567217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C10729C-4603-C768-D1BD-2AA51D545AAB}"/>
              </a:ext>
            </a:extLst>
          </p:cNvPr>
          <p:cNvCxnSpPr>
            <a:cxnSpLocks/>
          </p:cNvCxnSpPr>
          <p:nvPr/>
        </p:nvCxnSpPr>
        <p:spPr>
          <a:xfrm>
            <a:off x="9032567" y="4702494"/>
            <a:ext cx="0" cy="62287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46BFF41-DDE9-2931-A262-329CDA41693D}"/>
              </a:ext>
            </a:extLst>
          </p:cNvPr>
          <p:cNvSpPr txBox="1"/>
          <p:nvPr/>
        </p:nvSpPr>
        <p:spPr>
          <a:xfrm>
            <a:off x="7725770" y="5942255"/>
            <a:ext cx="2708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happens-</a:t>
            </a:r>
            <a:r>
              <a:rPr lang="en-GB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F3207F-D1C1-AA10-2CAD-5A43F0702C07}"/>
              </a:ext>
            </a:extLst>
          </p:cNvPr>
          <p:cNvSpPr txBox="1"/>
          <p:nvPr/>
        </p:nvSpPr>
        <p:spPr>
          <a:xfrm>
            <a:off x="7725770" y="6286236"/>
            <a:ext cx="3498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C1F039C0-C281-A4BC-269B-AF168F8F7D18}"/>
              </a:ext>
            </a:extLst>
          </p:cNvPr>
          <p:cNvCxnSpPr>
            <a:cxnSpLocks/>
          </p:cNvCxnSpPr>
          <p:nvPr/>
        </p:nvCxnSpPr>
        <p:spPr>
          <a:xfrm>
            <a:off x="10255184" y="5639857"/>
            <a:ext cx="906282" cy="810741"/>
          </a:xfrm>
          <a:prstGeom prst="curvedConnector3">
            <a:avLst>
              <a:gd name="adj1" fmla="val 12522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5990B1B-FCD4-90DD-C49A-54B122093640}"/>
              </a:ext>
            </a:extLst>
          </p:cNvPr>
          <p:cNvSpPr txBox="1"/>
          <p:nvPr/>
        </p:nvSpPr>
        <p:spPr>
          <a:xfrm>
            <a:off x="3489720" y="5928818"/>
            <a:ext cx="1508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122A5BB-DFDD-433F-0982-E0524F874894}"/>
              </a:ext>
            </a:extLst>
          </p:cNvPr>
          <p:cNvSpPr txBox="1"/>
          <p:nvPr/>
        </p:nvSpPr>
        <p:spPr>
          <a:xfrm>
            <a:off x="3449626" y="6330626"/>
            <a:ext cx="171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zh-CN" alt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zh-CN" altLang="en-US" b="1" dirty="0"/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A9C608AE-E418-203A-33D1-7EAEC1E394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75850" y="6268502"/>
            <a:ext cx="434284" cy="189876"/>
          </a:xfrm>
          <a:prstGeom prst="curvedConnector4">
            <a:avLst>
              <a:gd name="adj1" fmla="val -5425"/>
              <a:gd name="adj2" fmla="val 22039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31C74E-80FF-D459-E45F-7803999547D1}"/>
              </a:ext>
            </a:extLst>
          </p:cNvPr>
          <p:cNvSpPr txBox="1"/>
          <p:nvPr/>
        </p:nvSpPr>
        <p:spPr>
          <a:xfrm>
            <a:off x="1030534" y="5959595"/>
            <a:ext cx="2708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247953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A92AA-010F-EE8F-D70B-7EDFCD615322}"/>
              </a:ext>
            </a:extLst>
          </p:cNvPr>
          <p:cNvSpPr txBox="1"/>
          <p:nvPr/>
        </p:nvSpPr>
        <p:spPr>
          <a:xfrm>
            <a:off x="1030534" y="6361799"/>
            <a:ext cx="2587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2023-09-15T16:19:20.705592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7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B1A73-C1C1-A247-291F-40CCB771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5A2ED2-B404-2808-C236-D2CFBF87AB8B}"/>
              </a:ext>
            </a:extLst>
          </p:cNvPr>
          <p:cNvSpPr txBox="1"/>
          <p:nvPr/>
        </p:nvSpPr>
        <p:spPr>
          <a:xfrm>
            <a:off x="4542613" y="380867"/>
            <a:ext cx="2774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727769-BA5D-9B10-4E91-9526001D9519}"/>
              </a:ext>
            </a:extLst>
          </p:cNvPr>
          <p:cNvSpPr/>
          <p:nvPr/>
        </p:nvSpPr>
        <p:spPr>
          <a:xfrm>
            <a:off x="4696783" y="1497608"/>
            <a:ext cx="1945567" cy="100574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16F63B-0382-3446-1923-10BEA32746A6}"/>
              </a:ext>
            </a:extLst>
          </p:cNvPr>
          <p:cNvSpPr txBox="1"/>
          <p:nvPr/>
        </p:nvSpPr>
        <p:spPr>
          <a:xfrm>
            <a:off x="787143" y="200047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0CB2B9-8534-B405-8684-BD575DB0D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64" y="1364061"/>
            <a:ext cx="590550" cy="609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A3B82D-25E5-1DF5-3474-57D06C5C3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77" y="1555283"/>
            <a:ext cx="590552" cy="6096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225755E-2BF9-94DA-7C69-06E146FC1B5B}"/>
              </a:ext>
            </a:extLst>
          </p:cNvPr>
          <p:cNvSpPr txBox="1"/>
          <p:nvPr/>
        </p:nvSpPr>
        <p:spPr>
          <a:xfrm>
            <a:off x="2112307" y="214576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53349B4-3674-865B-FC07-295164F65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831" y="2025632"/>
            <a:ext cx="590552" cy="60960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861AC1B-EC52-D6CA-3098-526F6CF27783}"/>
              </a:ext>
            </a:extLst>
          </p:cNvPr>
          <p:cNvSpPr txBox="1"/>
          <p:nvPr/>
        </p:nvSpPr>
        <p:spPr>
          <a:xfrm>
            <a:off x="3410465" y="25313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ChatGPT - Simple English Wikipedia, the free encyclopedia">
            <a:extLst>
              <a:ext uri="{FF2B5EF4-FFF2-40B4-BE49-F238E27FC236}">
                <a16:creationId xmlns:a16="http://schemas.microsoft.com/office/drawing/2014/main" id="{C0E44AF7-5219-FA9D-EE6B-8234B8027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437" y="1731750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30AB184-37E4-9C17-97D6-B6242A4B41AA}"/>
              </a:ext>
            </a:extLst>
          </p:cNvPr>
          <p:cNvSpPr txBox="1"/>
          <p:nvPr/>
        </p:nvSpPr>
        <p:spPr>
          <a:xfrm>
            <a:off x="4314681" y="2676358"/>
            <a:ext cx="2737734" cy="38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1"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Extractor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5F202CC-956E-77B2-2DAF-D0690713081B}"/>
              </a:ext>
            </a:extLst>
          </p:cNvPr>
          <p:cNvCxnSpPr>
            <a:cxnSpLocks/>
          </p:cNvCxnSpPr>
          <p:nvPr/>
        </p:nvCxnSpPr>
        <p:spPr>
          <a:xfrm>
            <a:off x="3772383" y="2000479"/>
            <a:ext cx="80652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F17CE1D-E97B-12CA-ED3B-108E1540DDBB}"/>
              </a:ext>
            </a:extLst>
          </p:cNvPr>
          <p:cNvCxnSpPr>
            <a:cxnSpLocks/>
          </p:cNvCxnSpPr>
          <p:nvPr/>
        </p:nvCxnSpPr>
        <p:spPr>
          <a:xfrm>
            <a:off x="6832370" y="2038540"/>
            <a:ext cx="718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DFF28AA-7BC2-E637-F7E7-BCEA4E31D28B}"/>
              </a:ext>
            </a:extLst>
          </p:cNvPr>
          <p:cNvSpPr txBox="1"/>
          <p:nvPr/>
        </p:nvSpPr>
        <p:spPr>
          <a:xfrm>
            <a:off x="7786858" y="1572009"/>
            <a:ext cx="3730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invocation}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0BBA-AA9D-FA5F-F59F-E03F917572A5}"/>
              </a:ext>
            </a:extLst>
          </p:cNvPr>
          <p:cNvSpPr txBox="1"/>
          <p:nvPr/>
        </p:nvSpPr>
        <p:spPr>
          <a:xfrm>
            <a:off x="5549855" y="1792097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4C5602C4-578A-45FB-51FA-90F97D81C7B0}"/>
              </a:ext>
            </a:extLst>
          </p:cNvPr>
          <p:cNvCxnSpPr>
            <a:cxnSpLocks/>
          </p:cNvCxnSpPr>
          <p:nvPr/>
        </p:nvCxnSpPr>
        <p:spPr>
          <a:xfrm>
            <a:off x="10184103" y="2515239"/>
            <a:ext cx="0" cy="18821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86EF19A-A135-BD58-8638-0724519A8AE6}"/>
              </a:ext>
            </a:extLst>
          </p:cNvPr>
          <p:cNvSpPr txBox="1"/>
          <p:nvPr/>
        </p:nvSpPr>
        <p:spPr>
          <a:xfrm>
            <a:off x="9194638" y="5996781"/>
            <a:ext cx="2136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dirty="0"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147219AF-1979-2D58-813A-B6FA450C9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827" y="4594434"/>
            <a:ext cx="1862552" cy="1304213"/>
          </a:xfrm>
          <a:prstGeom prst="rect">
            <a:avLst/>
          </a:prstGeom>
        </p:spPr>
      </p:pic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01D880AC-061F-C029-F8B6-5DAAEF0B52D8}"/>
              </a:ext>
            </a:extLst>
          </p:cNvPr>
          <p:cNvCxnSpPr>
            <a:cxnSpLocks/>
          </p:cNvCxnSpPr>
          <p:nvPr/>
        </p:nvCxnSpPr>
        <p:spPr>
          <a:xfrm flipH="1">
            <a:off x="7635643" y="5437477"/>
            <a:ext cx="1373538" cy="107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DA117039-1A2E-1F0B-FEDE-EE5D4597C00C}"/>
              </a:ext>
            </a:extLst>
          </p:cNvPr>
          <p:cNvSpPr/>
          <p:nvPr/>
        </p:nvSpPr>
        <p:spPr>
          <a:xfrm>
            <a:off x="5815794" y="5032011"/>
            <a:ext cx="1596546" cy="85398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0" name="Picture 2" descr="ChatGPT - Simple English Wikipedia, the free encyclopedia">
            <a:extLst>
              <a:ext uri="{FF2B5EF4-FFF2-40B4-BE49-F238E27FC236}">
                <a16:creationId xmlns:a16="http://schemas.microsoft.com/office/drawing/2014/main" id="{00CF9834-4C5C-C4EC-FD24-B1C463363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56" y="5208357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A9DBCFB2-E96A-7545-9198-F162427DF667}"/>
              </a:ext>
            </a:extLst>
          </p:cNvPr>
          <p:cNvSpPr txBox="1"/>
          <p:nvPr/>
        </p:nvSpPr>
        <p:spPr>
          <a:xfrm>
            <a:off x="6529081" y="5271443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C96D9D0-4921-A151-B44E-9AF4C68750FB}"/>
              </a:ext>
            </a:extLst>
          </p:cNvPr>
          <p:cNvSpPr txBox="1"/>
          <p:nvPr/>
        </p:nvSpPr>
        <p:spPr>
          <a:xfrm>
            <a:off x="5880763" y="5927558"/>
            <a:ext cx="1523173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Symptom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Extraction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F89F96D2-84E6-F425-A7F2-E3CA2980EC27}"/>
              </a:ext>
            </a:extLst>
          </p:cNvPr>
          <p:cNvCxnSpPr>
            <a:cxnSpLocks/>
          </p:cNvCxnSpPr>
          <p:nvPr/>
        </p:nvCxnSpPr>
        <p:spPr>
          <a:xfrm flipH="1">
            <a:off x="4314681" y="5487349"/>
            <a:ext cx="13271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F5E6E44A-60DB-AB1E-C125-8A80C551C97F}"/>
              </a:ext>
            </a:extLst>
          </p:cNvPr>
          <p:cNvSpPr txBox="1"/>
          <p:nvPr/>
        </p:nvSpPr>
        <p:spPr>
          <a:xfrm>
            <a:off x="1168048" y="5927558"/>
            <a:ext cx="2136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igher</a:t>
            </a:r>
            <a:r>
              <a:rPr lang="en-GB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-level model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1965911E-BBEE-EF4C-4CB3-452D31019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86" y="5115418"/>
            <a:ext cx="3654146" cy="68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7ADB4E-AB9E-B2E5-E657-75701F34F3FA}"/>
              </a:ext>
            </a:extLst>
          </p:cNvPr>
          <p:cNvSpPr/>
          <p:nvPr/>
        </p:nvSpPr>
        <p:spPr>
          <a:xfrm>
            <a:off x="4538841" y="2910772"/>
            <a:ext cx="1945567" cy="100574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6E5B7F-0DEF-44CB-8378-96C4F839505C}"/>
              </a:ext>
            </a:extLst>
          </p:cNvPr>
          <p:cNvSpPr txBox="1"/>
          <p:nvPr/>
        </p:nvSpPr>
        <p:spPr>
          <a:xfrm>
            <a:off x="2086045" y="898467"/>
            <a:ext cx="8131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gent-based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E4127D-1E18-042B-5BCE-E223568C3C1B}"/>
              </a:ext>
            </a:extLst>
          </p:cNvPr>
          <p:cNvSpPr txBox="1"/>
          <p:nvPr/>
        </p:nvSpPr>
        <p:spPr>
          <a:xfrm>
            <a:off x="629201" y="341364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C07CD-0700-A7FB-2460-9DDAA0C8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22" y="2777225"/>
            <a:ext cx="590550" cy="6096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F048AB-309F-D004-1FD5-04426181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35" y="2968447"/>
            <a:ext cx="590552" cy="60960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445E22A-BBF2-1B54-533E-DE46638FD409}"/>
              </a:ext>
            </a:extLst>
          </p:cNvPr>
          <p:cNvSpPr txBox="1"/>
          <p:nvPr/>
        </p:nvSpPr>
        <p:spPr>
          <a:xfrm>
            <a:off x="1954365" y="355893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CAFA38-B639-6908-D864-B8CBFD1D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889" y="3438796"/>
            <a:ext cx="590552" cy="6096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347FB7D-A42A-F7D1-9020-B2435827F746}"/>
              </a:ext>
            </a:extLst>
          </p:cNvPr>
          <p:cNvSpPr txBox="1"/>
          <p:nvPr/>
        </p:nvSpPr>
        <p:spPr>
          <a:xfrm>
            <a:off x="3252523" y="39444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ChatGPT - Simple English Wikipedia, the free encyclopedia">
            <a:extLst>
              <a:ext uri="{FF2B5EF4-FFF2-40B4-BE49-F238E27FC236}">
                <a16:creationId xmlns:a16="http://schemas.microsoft.com/office/drawing/2014/main" id="{72866535-7742-76E6-8AE2-D6CFC31E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495" y="3144914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4A599F9-AFD3-8E2F-3FF4-2E2BAB8108E9}"/>
              </a:ext>
            </a:extLst>
          </p:cNvPr>
          <p:cNvSpPr txBox="1"/>
          <p:nvPr/>
        </p:nvSpPr>
        <p:spPr>
          <a:xfrm>
            <a:off x="4156739" y="4089522"/>
            <a:ext cx="2737734" cy="38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1"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Extractor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322D78A-3A7D-B4A6-6A78-FD4D511E0B76}"/>
              </a:ext>
            </a:extLst>
          </p:cNvPr>
          <p:cNvCxnSpPr>
            <a:cxnSpLocks/>
          </p:cNvCxnSpPr>
          <p:nvPr/>
        </p:nvCxnSpPr>
        <p:spPr>
          <a:xfrm>
            <a:off x="3614441" y="3413643"/>
            <a:ext cx="80652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3F8D64F-8C09-87EE-4570-2A12CB191F26}"/>
              </a:ext>
            </a:extLst>
          </p:cNvPr>
          <p:cNvCxnSpPr>
            <a:cxnSpLocks/>
          </p:cNvCxnSpPr>
          <p:nvPr/>
        </p:nvCxnSpPr>
        <p:spPr>
          <a:xfrm>
            <a:off x="6674428" y="3451704"/>
            <a:ext cx="718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5D5A0-EE42-5459-4BD3-1412C439F9C1}"/>
              </a:ext>
            </a:extLst>
          </p:cNvPr>
          <p:cNvSpPr txBox="1"/>
          <p:nvPr/>
        </p:nvSpPr>
        <p:spPr>
          <a:xfrm>
            <a:off x="7628916" y="2985173"/>
            <a:ext cx="3730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invocation}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DC9FED-6879-8BE5-7484-975A921013C2}"/>
              </a:ext>
            </a:extLst>
          </p:cNvPr>
          <p:cNvSpPr txBox="1"/>
          <p:nvPr/>
        </p:nvSpPr>
        <p:spPr>
          <a:xfrm>
            <a:off x="5391913" y="3205261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0B6264-C924-FB8C-DBC3-7BE85329B8BD}"/>
              </a:ext>
            </a:extLst>
          </p:cNvPr>
          <p:cNvSpPr txBox="1"/>
          <p:nvPr/>
        </p:nvSpPr>
        <p:spPr>
          <a:xfrm>
            <a:off x="8542627" y="408952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Enhance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52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2238655" y="602275"/>
            <a:ext cx="7714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Casual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7E226E-AADD-1A58-8B8A-26D7C9C29457}"/>
              </a:ext>
            </a:extLst>
          </p:cNvPr>
          <p:cNvSpPr/>
          <p:nvPr/>
        </p:nvSpPr>
        <p:spPr>
          <a:xfrm>
            <a:off x="2930236" y="226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C6F5E6-19F3-E4D3-E9A5-5DBBDBBA5FF1}"/>
              </a:ext>
            </a:extLst>
          </p:cNvPr>
          <p:cNvSpPr/>
          <p:nvPr/>
        </p:nvSpPr>
        <p:spPr>
          <a:xfrm>
            <a:off x="7152410" y="226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5C42F81-4CF5-8D79-0C52-3B75DAC3309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30436" y="2623704"/>
            <a:ext cx="26219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9C61CE2-5811-6292-F474-CF0DB1628028}"/>
              </a:ext>
            </a:extLst>
          </p:cNvPr>
          <p:cNvSpPr txBox="1"/>
          <p:nvPr/>
        </p:nvSpPr>
        <p:spPr>
          <a:xfrm>
            <a:off x="1972281" y="1566822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Happens-Before</a:t>
            </a:r>
            <a:endParaRPr kumimoji="1"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68992D-C7AA-429F-70B3-154C00C16A4E}"/>
              </a:ext>
            </a:extLst>
          </p:cNvPr>
          <p:cNvSpPr txBox="1"/>
          <p:nvPr/>
        </p:nvSpPr>
        <p:spPr>
          <a:xfrm>
            <a:off x="1972281" y="3675756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Mutual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Exclusion</a:t>
            </a:r>
            <a:endParaRPr kumimoji="1" lang="zh-CN" altLang="en-US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0C39AA-6F62-0F7A-F6C6-0063B81A7B5B}"/>
              </a:ext>
            </a:extLst>
          </p:cNvPr>
          <p:cNvSpPr/>
          <p:nvPr/>
        </p:nvSpPr>
        <p:spPr>
          <a:xfrm>
            <a:off x="3626426" y="4349980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B1C1DF-B2CA-C966-FDA4-982C9D63F7F1}"/>
              </a:ext>
            </a:extLst>
          </p:cNvPr>
          <p:cNvSpPr/>
          <p:nvPr/>
        </p:nvSpPr>
        <p:spPr>
          <a:xfrm>
            <a:off x="6750625" y="4349980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1B50DA-5BE2-9A04-7EFB-778A11B95B7A}"/>
              </a:ext>
            </a:extLst>
          </p:cNvPr>
          <p:cNvSpPr/>
          <p:nvPr/>
        </p:nvSpPr>
        <p:spPr>
          <a:xfrm>
            <a:off x="3652874" y="543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D11CA8-9EB7-06A7-8FAF-7D31096D631B}"/>
              </a:ext>
            </a:extLst>
          </p:cNvPr>
          <p:cNvSpPr/>
          <p:nvPr/>
        </p:nvSpPr>
        <p:spPr>
          <a:xfrm>
            <a:off x="6750625" y="543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6BC95D-4B85-C5EB-C306-F1DA335E4D2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226626" y="4708466"/>
            <a:ext cx="15239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5B2453D0-AF4E-CEA6-4A68-BEACC28437C5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5253074" y="5793704"/>
            <a:ext cx="1497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ime Series Analysis Vector Icon 26665420 Vector Art at Vecteezy">
            <a:extLst>
              <a:ext uri="{FF2B5EF4-FFF2-40B4-BE49-F238E27FC236}">
                <a16:creationId xmlns:a16="http://schemas.microsoft.com/office/drawing/2014/main" id="{9065067C-8A21-66F9-C868-17F66F7C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869" y="2688679"/>
            <a:ext cx="2623704" cy="262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88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2390151" y="689977"/>
            <a:ext cx="6435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12382E0-313C-A042-0771-2921EDDCD75C}"/>
              </a:ext>
            </a:extLst>
          </p:cNvPr>
          <p:cNvSpPr/>
          <p:nvPr/>
        </p:nvSpPr>
        <p:spPr>
          <a:xfrm>
            <a:off x="2649893" y="3303037"/>
            <a:ext cx="1732385" cy="11142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01A87BF-00CA-5071-95DE-C197454B1C2E}"/>
              </a:ext>
            </a:extLst>
          </p:cNvPr>
          <p:cNvSpPr/>
          <p:nvPr/>
        </p:nvSpPr>
        <p:spPr>
          <a:xfrm>
            <a:off x="6431902" y="1865449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D7F5134-20B2-71AB-B419-70E898FA962E}"/>
              </a:ext>
            </a:extLst>
          </p:cNvPr>
          <p:cNvSpPr/>
          <p:nvPr/>
        </p:nvSpPr>
        <p:spPr>
          <a:xfrm>
            <a:off x="6506546" y="5061544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F7FC261E-C99A-8E8A-1CEA-2037089414E4}"/>
              </a:ext>
            </a:extLst>
          </p:cNvPr>
          <p:cNvCxnSpPr>
            <a:stCxn id="6" idx="2"/>
            <a:endCxn id="15" idx="1"/>
          </p:cNvCxnSpPr>
          <p:nvPr/>
        </p:nvCxnSpPr>
        <p:spPr>
          <a:xfrm rot="16200000" flipH="1">
            <a:off x="4466330" y="3467021"/>
            <a:ext cx="1089972" cy="29904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F3B78754-A564-6434-85BC-3DC1F92EACB3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4478047" y="1349182"/>
            <a:ext cx="991895" cy="291581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704FD644-8378-BD56-38A2-AE9016CD7847}"/>
              </a:ext>
            </a:extLst>
          </p:cNvPr>
          <p:cNvSpPr/>
          <p:nvPr/>
        </p:nvSpPr>
        <p:spPr>
          <a:xfrm>
            <a:off x="2672049" y="2093904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8C88AF10-7ACA-FCFB-DDAF-AFF4FB063DB3}"/>
              </a:ext>
            </a:extLst>
          </p:cNvPr>
          <p:cNvCxnSpPr>
            <a:cxnSpLocks/>
            <a:stCxn id="15" idx="0"/>
            <a:endCxn id="40" idx="4"/>
          </p:cNvCxnSpPr>
          <p:nvPr/>
        </p:nvCxnSpPr>
        <p:spPr>
          <a:xfrm rot="16200000" flipV="1">
            <a:off x="6886740" y="4575544"/>
            <a:ext cx="971998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7428C08C-8AB2-C636-F6BB-B3AB4293A45A}"/>
              </a:ext>
            </a:extLst>
          </p:cNvPr>
          <p:cNvSpPr/>
          <p:nvPr/>
        </p:nvSpPr>
        <p:spPr>
          <a:xfrm>
            <a:off x="6361921" y="3623957"/>
            <a:ext cx="2021634" cy="46558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7D99197-99F3-3165-D408-37DA3C2EE698}"/>
              </a:ext>
            </a:extLst>
          </p:cNvPr>
          <p:cNvSpPr/>
          <p:nvPr/>
        </p:nvSpPr>
        <p:spPr>
          <a:xfrm>
            <a:off x="2597405" y="5283428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三角形 43">
            <a:extLst>
              <a:ext uri="{FF2B5EF4-FFF2-40B4-BE49-F238E27FC236}">
                <a16:creationId xmlns:a16="http://schemas.microsoft.com/office/drawing/2014/main" id="{57E4B0A5-ABCF-20AB-B536-51169A92E5A8}"/>
              </a:ext>
            </a:extLst>
          </p:cNvPr>
          <p:cNvSpPr/>
          <p:nvPr/>
        </p:nvSpPr>
        <p:spPr>
          <a:xfrm>
            <a:off x="3274982" y="2658758"/>
            <a:ext cx="482206" cy="508157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三角形 44">
            <a:extLst>
              <a:ext uri="{FF2B5EF4-FFF2-40B4-BE49-F238E27FC236}">
                <a16:creationId xmlns:a16="http://schemas.microsoft.com/office/drawing/2014/main" id="{AF7BA851-687F-28B8-4BC2-F9FDBA651AB9}"/>
              </a:ext>
            </a:extLst>
          </p:cNvPr>
          <p:cNvSpPr/>
          <p:nvPr/>
        </p:nvSpPr>
        <p:spPr>
          <a:xfrm rot="16200000">
            <a:off x="5024292" y="2065988"/>
            <a:ext cx="482206" cy="508157"/>
          </a:xfrm>
          <a:prstGeom prst="triangl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三角形 45">
            <a:extLst>
              <a:ext uri="{FF2B5EF4-FFF2-40B4-BE49-F238E27FC236}">
                <a16:creationId xmlns:a16="http://schemas.microsoft.com/office/drawing/2014/main" id="{39749CA7-1B8C-889F-95A2-4159EA3DD8BF}"/>
              </a:ext>
            </a:extLst>
          </p:cNvPr>
          <p:cNvSpPr/>
          <p:nvPr/>
        </p:nvSpPr>
        <p:spPr>
          <a:xfrm rot="10800000">
            <a:off x="3271933" y="4583656"/>
            <a:ext cx="482206" cy="5081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三角形 46">
            <a:extLst>
              <a:ext uri="{FF2B5EF4-FFF2-40B4-BE49-F238E27FC236}">
                <a16:creationId xmlns:a16="http://schemas.microsoft.com/office/drawing/2014/main" id="{4A5530B7-A3DE-6455-D9DD-C2AE2972937F}"/>
              </a:ext>
            </a:extLst>
          </p:cNvPr>
          <p:cNvSpPr/>
          <p:nvPr/>
        </p:nvSpPr>
        <p:spPr>
          <a:xfrm rot="5400000">
            <a:off x="5112731" y="5246585"/>
            <a:ext cx="482206" cy="50815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三角形 48">
            <a:extLst>
              <a:ext uri="{FF2B5EF4-FFF2-40B4-BE49-F238E27FC236}">
                <a16:creationId xmlns:a16="http://schemas.microsoft.com/office/drawing/2014/main" id="{1DD2D4E9-A644-FE8D-C385-C700CA6F6A8D}"/>
              </a:ext>
            </a:extLst>
          </p:cNvPr>
          <p:cNvSpPr/>
          <p:nvPr/>
        </p:nvSpPr>
        <p:spPr>
          <a:xfrm>
            <a:off x="7131635" y="4239978"/>
            <a:ext cx="482206" cy="508157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9B135B4-FB61-6E66-53CC-3C26232C7CA2}"/>
              </a:ext>
            </a:extLst>
          </p:cNvPr>
          <p:cNvSpPr txBox="1"/>
          <p:nvPr/>
        </p:nvSpPr>
        <p:spPr>
          <a:xfrm>
            <a:off x="8807078" y="2528377"/>
            <a:ext cx="31220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{"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"resource"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"}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/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9B99CF-5F2B-191E-0B52-3C9098BB0ED7}"/>
              </a:ext>
            </a:extLst>
          </p:cNvPr>
          <p:cNvSpPr txBox="1"/>
          <p:nvPr/>
        </p:nvSpPr>
        <p:spPr>
          <a:xfrm>
            <a:off x="4415443" y="25607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BFD2386-7AA6-5F56-BFDE-28ACD7ABC9A2}"/>
              </a:ext>
            </a:extLst>
          </p:cNvPr>
          <p:cNvSpPr txBox="1"/>
          <p:nvPr/>
        </p:nvSpPr>
        <p:spPr>
          <a:xfrm>
            <a:off x="1731212" y="2778455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E56F0CF-6DD3-8D3A-78EE-A75C759B6FC5}"/>
              </a:ext>
            </a:extLst>
          </p:cNvPr>
          <p:cNvSpPr txBox="1"/>
          <p:nvPr/>
        </p:nvSpPr>
        <p:spPr>
          <a:xfrm>
            <a:off x="1805856" y="46514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8F46F84-750F-0876-DA0A-E3959D27AEE9}"/>
              </a:ext>
            </a:extLst>
          </p:cNvPr>
          <p:cNvSpPr txBox="1"/>
          <p:nvPr/>
        </p:nvSpPr>
        <p:spPr>
          <a:xfrm>
            <a:off x="4435153" y="5795841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97D90D3A-9068-220D-1800-99FA34F9A1C2}"/>
              </a:ext>
            </a:extLst>
          </p:cNvPr>
          <p:cNvCxnSpPr>
            <a:stCxn id="6" idx="3"/>
            <a:endCxn id="40" idx="2"/>
          </p:cNvCxnSpPr>
          <p:nvPr/>
        </p:nvCxnSpPr>
        <p:spPr>
          <a:xfrm flipV="1">
            <a:off x="4382278" y="3856752"/>
            <a:ext cx="1979643" cy="3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三角形 47">
            <a:extLst>
              <a:ext uri="{FF2B5EF4-FFF2-40B4-BE49-F238E27FC236}">
                <a16:creationId xmlns:a16="http://schemas.microsoft.com/office/drawing/2014/main" id="{67DA6C94-C44D-68AC-2E60-80C90E8FE685}"/>
              </a:ext>
            </a:extLst>
          </p:cNvPr>
          <p:cNvSpPr/>
          <p:nvPr/>
        </p:nvSpPr>
        <p:spPr>
          <a:xfrm rot="5400000">
            <a:off x="5153968" y="3608673"/>
            <a:ext cx="482206" cy="50815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BBA8B9-1EE6-6E10-7AE8-62C090525876}"/>
              </a:ext>
            </a:extLst>
          </p:cNvPr>
          <p:cNvSpPr txBox="1"/>
          <p:nvPr/>
        </p:nvSpPr>
        <p:spPr>
          <a:xfrm>
            <a:off x="7131635" y="4282158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48" name="文本框 2047">
            <a:extLst>
              <a:ext uri="{FF2B5EF4-FFF2-40B4-BE49-F238E27FC236}">
                <a16:creationId xmlns:a16="http://schemas.microsoft.com/office/drawing/2014/main" id="{24F2AE3A-5BB0-1F6B-D458-5BE97217B4FC}"/>
              </a:ext>
            </a:extLst>
          </p:cNvPr>
          <p:cNvSpPr txBox="1"/>
          <p:nvPr/>
        </p:nvSpPr>
        <p:spPr>
          <a:xfrm>
            <a:off x="4782957" y="3306153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133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9057-1720-9DF0-7CBE-B6867389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1CAE13-553B-1E31-2699-E3B6FD839EC6}"/>
              </a:ext>
            </a:extLst>
          </p:cNvPr>
          <p:cNvSpPr txBox="1"/>
          <p:nvPr/>
        </p:nvSpPr>
        <p:spPr>
          <a:xfrm>
            <a:off x="2877511" y="665788"/>
            <a:ext cx="61312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Checker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1408B6-67DC-C3AE-E8DB-CEA74F7DF77D}"/>
              </a:ext>
            </a:extLst>
          </p:cNvPr>
          <p:cNvSpPr txBox="1"/>
          <p:nvPr/>
        </p:nvSpPr>
        <p:spPr>
          <a:xfrm>
            <a:off x="1670180" y="1991965"/>
            <a:ext cx="8545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3.1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existance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2FCC10-F383-79BF-5399-52E9BB3B85F9}"/>
              </a:ext>
            </a:extLst>
          </p:cNvPr>
          <p:cNvSpPr txBox="1"/>
          <p:nvPr/>
        </p:nvSpPr>
        <p:spPr>
          <a:xfrm>
            <a:off x="1670180" y="3981840"/>
            <a:ext cx="870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casual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time-series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Regular Expression icon - Free Download PNG &amp; SVG | Streamline">
            <a:extLst>
              <a:ext uri="{FF2B5EF4-FFF2-40B4-BE49-F238E27FC236}">
                <a16:creationId xmlns:a16="http://schemas.microsoft.com/office/drawing/2014/main" id="{0E8C28CE-B1C8-603C-7BD5-29C53038C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203" y="2459250"/>
            <a:ext cx="1261742" cy="126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gular Expression (Regex) Essentials for Developers - CodeWithMarish">
            <a:extLst>
              <a:ext uri="{FF2B5EF4-FFF2-40B4-BE49-F238E27FC236}">
                <a16:creationId xmlns:a16="http://schemas.microsoft.com/office/drawing/2014/main" id="{1C28E55C-ECE2-C33F-08F3-BD0FBD51C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71" y="2522499"/>
            <a:ext cx="2130653" cy="119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Analysis Vector Icon 26330111 Vector Art at Vecteezy">
            <a:extLst>
              <a:ext uri="{FF2B5EF4-FFF2-40B4-BE49-F238E27FC236}">
                <a16:creationId xmlns:a16="http://schemas.microsoft.com/office/drawing/2014/main" id="{E6096CBE-4849-E71E-8911-15C4A1BA2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170" y="4381950"/>
            <a:ext cx="2360645" cy="23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92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2CD1-A6C5-56A4-8F1F-C73FE96C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B995FBC-3B08-1E9E-3873-45B251A41E8B}"/>
              </a:ext>
            </a:extLst>
          </p:cNvPr>
          <p:cNvSpPr txBox="1"/>
          <p:nvPr/>
        </p:nvSpPr>
        <p:spPr>
          <a:xfrm>
            <a:off x="1869632" y="161965"/>
            <a:ext cx="84527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nomaly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Interactions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65073A-A06E-6DC6-A5D5-AA7ADC029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93" y="811662"/>
            <a:ext cx="10891787" cy="547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89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6D8C-CAE2-C274-1891-86280ED0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3042FD-392F-71DA-10A9-82AD432DEE7C}"/>
              </a:ext>
            </a:extLst>
          </p:cNvPr>
          <p:cNvSpPr txBox="1"/>
          <p:nvPr/>
        </p:nvSpPr>
        <p:spPr>
          <a:xfrm>
            <a:off x="2812106" y="394721"/>
            <a:ext cx="65677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igher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-level model</a:t>
            </a:r>
            <a:r>
              <a:rPr lang="en-US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563774C8-175D-A711-3F5E-37DD0DFC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8" y="1102607"/>
            <a:ext cx="6849689" cy="573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B005-098F-3950-C025-56BFFB53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03FA960-0DC3-DE76-2BA3-B4C2D65B7588}"/>
              </a:ext>
            </a:extLst>
          </p:cNvPr>
          <p:cNvSpPr txBox="1"/>
          <p:nvPr/>
        </p:nvSpPr>
        <p:spPr>
          <a:xfrm>
            <a:off x="3918524" y="332047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EA829E-780C-DCE2-168C-F3F89636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76" y="920189"/>
            <a:ext cx="8582246" cy="56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58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B9B7-9304-EE1A-CBD6-4F02A9FA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>
            <a:extLst>
              <a:ext uri="{FF2B5EF4-FFF2-40B4-BE49-F238E27FC236}">
                <a16:creationId xmlns:a16="http://schemas.microsoft.com/office/drawing/2014/main" id="{A65CAB68-7E59-B9E9-E1FD-1618BBA67A38}"/>
              </a:ext>
            </a:extLst>
          </p:cNvPr>
          <p:cNvSpPr/>
          <p:nvPr/>
        </p:nvSpPr>
        <p:spPr>
          <a:xfrm>
            <a:off x="7878792" y="4531275"/>
            <a:ext cx="570272" cy="228056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40FB19CF-FB91-5DB2-2D72-E2F602BBCF6A}"/>
              </a:ext>
            </a:extLst>
          </p:cNvPr>
          <p:cNvSpPr/>
          <p:nvPr/>
        </p:nvSpPr>
        <p:spPr>
          <a:xfrm>
            <a:off x="7064232" y="4531275"/>
            <a:ext cx="436644" cy="224299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6890A22-C54F-931D-7A6A-8ABF32C08673}"/>
              </a:ext>
            </a:extLst>
          </p:cNvPr>
          <p:cNvSpPr/>
          <p:nvPr/>
        </p:nvSpPr>
        <p:spPr>
          <a:xfrm>
            <a:off x="5024682" y="4526403"/>
            <a:ext cx="894385" cy="232931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9526DA1-41E4-D9E6-E326-CC77DF3AD962}"/>
              </a:ext>
            </a:extLst>
          </p:cNvPr>
          <p:cNvSpPr/>
          <p:nvPr/>
        </p:nvSpPr>
        <p:spPr>
          <a:xfrm>
            <a:off x="8393539" y="3247993"/>
            <a:ext cx="1406815" cy="911803"/>
          </a:xfrm>
          <a:prstGeom prst="rect">
            <a:avLst/>
          </a:prstGeom>
          <a:solidFill>
            <a:schemeClr val="bg1">
              <a:alpha val="92941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BC7236-1936-B326-5E5B-3B849F6C91C4}"/>
              </a:ext>
            </a:extLst>
          </p:cNvPr>
          <p:cNvSpPr/>
          <p:nvPr/>
        </p:nvSpPr>
        <p:spPr>
          <a:xfrm>
            <a:off x="3086592" y="4568354"/>
            <a:ext cx="3308619" cy="161174"/>
          </a:xfrm>
          <a:prstGeom prst="rect">
            <a:avLst/>
          </a:prstGeom>
          <a:solidFill>
            <a:schemeClr val="accent4">
              <a:lumMod val="20000"/>
              <a:lumOff val="8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4F53163-496A-8B99-5CB0-DD2FC6C81E46}"/>
              </a:ext>
            </a:extLst>
          </p:cNvPr>
          <p:cNvSpPr/>
          <p:nvPr/>
        </p:nvSpPr>
        <p:spPr>
          <a:xfrm>
            <a:off x="4392891" y="4770782"/>
            <a:ext cx="436644" cy="224299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29B523BC-F528-DCE1-2E9F-F5388C7CF08C}"/>
              </a:ext>
            </a:extLst>
          </p:cNvPr>
          <p:cNvSpPr/>
          <p:nvPr/>
        </p:nvSpPr>
        <p:spPr>
          <a:xfrm>
            <a:off x="3510623" y="4531275"/>
            <a:ext cx="436644" cy="224299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3818D9-0E06-4101-DBA0-9F1FAB8BCBCC}"/>
              </a:ext>
            </a:extLst>
          </p:cNvPr>
          <p:cNvSpPr txBox="1"/>
          <p:nvPr/>
        </p:nvSpPr>
        <p:spPr>
          <a:xfrm>
            <a:off x="3918524" y="281862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A8FBCA0E-E4C9-579D-0A41-15C2CF53D9DF}"/>
              </a:ext>
            </a:extLst>
          </p:cNvPr>
          <p:cNvCxnSpPr>
            <a:cxnSpLocks/>
          </p:cNvCxnSpPr>
          <p:nvPr/>
        </p:nvCxnSpPr>
        <p:spPr>
          <a:xfrm>
            <a:off x="5830147" y="2699670"/>
            <a:ext cx="0" cy="964621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37BD6FF-F78B-F642-9D85-83656201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36" y="1127051"/>
            <a:ext cx="5098078" cy="12547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CFAD25-AFC1-AC6A-097B-FE48A04C6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81" y="1313807"/>
            <a:ext cx="5152819" cy="10815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D1DB51-8042-CE11-57BA-02EB8B825D09}"/>
              </a:ext>
            </a:extLst>
          </p:cNvPr>
          <p:cNvSpPr txBox="1"/>
          <p:nvPr/>
        </p:nvSpPr>
        <p:spPr>
          <a:xfrm>
            <a:off x="8741900" y="4324551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Time</a:t>
            </a:r>
            <a:endParaRPr kumimoji="1" lang="zh-CN" altLang="en-US" sz="16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86A25AC-FE3D-205E-9B3F-9E9643D6FA65}"/>
              </a:ext>
            </a:extLst>
          </p:cNvPr>
          <p:cNvCxnSpPr>
            <a:cxnSpLocks/>
          </p:cNvCxnSpPr>
          <p:nvPr/>
        </p:nvCxnSpPr>
        <p:spPr>
          <a:xfrm>
            <a:off x="3020605" y="4488273"/>
            <a:ext cx="5778248" cy="136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84895E79-7864-3594-048F-386F2D078AB2}"/>
              </a:ext>
            </a:extLst>
          </p:cNvPr>
          <p:cNvCxnSpPr>
            <a:cxnSpLocks/>
          </p:cNvCxnSpPr>
          <p:nvPr/>
        </p:nvCxnSpPr>
        <p:spPr>
          <a:xfrm>
            <a:off x="3011998" y="5585958"/>
            <a:ext cx="57868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060AF086-6AE2-D987-ABBE-8BE3726BD600}"/>
              </a:ext>
            </a:extLst>
          </p:cNvPr>
          <p:cNvSpPr/>
          <p:nvPr/>
        </p:nvSpPr>
        <p:spPr>
          <a:xfrm>
            <a:off x="1719408" y="4488283"/>
            <a:ext cx="254524" cy="10171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7CA0D5-69AB-8D23-91AF-CB1557EABD0C}"/>
              </a:ext>
            </a:extLst>
          </p:cNvPr>
          <p:cNvSpPr txBox="1"/>
          <p:nvPr/>
        </p:nvSpPr>
        <p:spPr>
          <a:xfrm>
            <a:off x="842488" y="4840338"/>
            <a:ext cx="889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Services</a:t>
            </a:r>
            <a:endParaRPr kumimoji="1" lang="zh-CN" altLang="en-US" sz="1600" dirty="0"/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DAB44A91-BB8F-F36A-07B4-DB6F4D8629D9}"/>
              </a:ext>
            </a:extLst>
          </p:cNvPr>
          <p:cNvCxnSpPr>
            <a:cxnSpLocks/>
          </p:cNvCxnSpPr>
          <p:nvPr/>
        </p:nvCxnSpPr>
        <p:spPr>
          <a:xfrm>
            <a:off x="3086593" y="4370098"/>
            <a:ext cx="0" cy="11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8FF803B-E893-DA28-C39B-9D99B2E0B006}"/>
              </a:ext>
            </a:extLst>
          </p:cNvPr>
          <p:cNvSpPr/>
          <p:nvPr/>
        </p:nvSpPr>
        <p:spPr>
          <a:xfrm>
            <a:off x="3387510" y="4804427"/>
            <a:ext cx="1855462" cy="166356"/>
          </a:xfrm>
          <a:prstGeom prst="rect">
            <a:avLst/>
          </a:prstGeom>
          <a:solidFill>
            <a:schemeClr val="accent4">
              <a:lumMod val="20000"/>
              <a:lumOff val="8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F14B6E8-5E02-539A-32F0-9832FDB60EA0}"/>
              </a:ext>
            </a:extLst>
          </p:cNvPr>
          <p:cNvSpPr txBox="1"/>
          <p:nvPr/>
        </p:nvSpPr>
        <p:spPr>
          <a:xfrm>
            <a:off x="2668850" y="3949015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2025-06-05</a:t>
            </a:r>
            <a:endParaRPr kumimoji="1"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6036677-E645-EBBD-DE40-9E05B4C98EF5}"/>
              </a:ext>
            </a:extLst>
          </p:cNvPr>
          <p:cNvSpPr txBox="1"/>
          <p:nvPr/>
        </p:nvSpPr>
        <p:spPr>
          <a:xfrm>
            <a:off x="2774095" y="4096266"/>
            <a:ext cx="774343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21:02:09</a:t>
            </a:r>
            <a:endParaRPr lang="zh-CN" altLang="en-US" sz="1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370A057E-1A2C-3661-B7FC-55955FE6E0B3}"/>
              </a:ext>
            </a:extLst>
          </p:cNvPr>
          <p:cNvCxnSpPr>
            <a:cxnSpLocks/>
          </p:cNvCxnSpPr>
          <p:nvPr/>
        </p:nvCxnSpPr>
        <p:spPr>
          <a:xfrm>
            <a:off x="4796763" y="4378654"/>
            <a:ext cx="0" cy="11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9E2E37D4-46EB-9140-D099-4732E4454F13}"/>
              </a:ext>
            </a:extLst>
          </p:cNvPr>
          <p:cNvSpPr txBox="1"/>
          <p:nvPr/>
        </p:nvSpPr>
        <p:spPr>
          <a:xfrm>
            <a:off x="2108011" y="4486429"/>
            <a:ext cx="1053256" cy="28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GB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zh-CN" altLang="en-US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88F5E9-9A49-700B-69E6-93D8303DEDEA}"/>
              </a:ext>
            </a:extLst>
          </p:cNvPr>
          <p:cNvSpPr/>
          <p:nvPr/>
        </p:nvSpPr>
        <p:spPr>
          <a:xfrm>
            <a:off x="3661534" y="4568352"/>
            <a:ext cx="167847" cy="161176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ED3A917-8142-3CDB-803B-D93D428B39EC}"/>
              </a:ext>
            </a:extLst>
          </p:cNvPr>
          <p:cNvSpPr txBox="1"/>
          <p:nvPr/>
        </p:nvSpPr>
        <p:spPr>
          <a:xfrm>
            <a:off x="3582564" y="4505619"/>
            <a:ext cx="377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op</a:t>
            </a:r>
            <a:endParaRPr kumimoji="1" lang="zh-CN" altLang="en-US" sz="1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027F56D-CC0A-155E-EC84-37546F857EF3}"/>
              </a:ext>
            </a:extLst>
          </p:cNvPr>
          <p:cNvSpPr/>
          <p:nvPr/>
        </p:nvSpPr>
        <p:spPr>
          <a:xfrm>
            <a:off x="6710853" y="4563514"/>
            <a:ext cx="1817270" cy="161158"/>
          </a:xfrm>
          <a:prstGeom prst="rect">
            <a:avLst/>
          </a:prstGeom>
          <a:solidFill>
            <a:schemeClr val="accent4">
              <a:lumMod val="20000"/>
              <a:lumOff val="8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1146EBF-5A6D-E8EA-5494-7B8635AEACCB}"/>
              </a:ext>
            </a:extLst>
          </p:cNvPr>
          <p:cNvSpPr/>
          <p:nvPr/>
        </p:nvSpPr>
        <p:spPr>
          <a:xfrm>
            <a:off x="5060798" y="4563513"/>
            <a:ext cx="797769" cy="161176"/>
          </a:xfrm>
          <a:prstGeom prst="rect">
            <a:avLst/>
          </a:prstGeom>
          <a:solidFill>
            <a:srgbClr val="C00000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F509A3B-07EA-17EB-9377-EE6BABEC75E6}"/>
              </a:ext>
            </a:extLst>
          </p:cNvPr>
          <p:cNvSpPr txBox="1"/>
          <p:nvPr/>
        </p:nvSpPr>
        <p:spPr>
          <a:xfrm>
            <a:off x="2441915" y="4729511"/>
            <a:ext cx="684813" cy="28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Executor</a:t>
            </a:r>
            <a:endParaRPr lang="en-GB" altLang="zh-CN" sz="1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413136F-BC1E-2577-293C-D163DF7277A7}"/>
              </a:ext>
            </a:extLst>
          </p:cNvPr>
          <p:cNvSpPr/>
          <p:nvPr/>
        </p:nvSpPr>
        <p:spPr>
          <a:xfrm>
            <a:off x="4462247" y="4807017"/>
            <a:ext cx="297932" cy="161176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60B08A93-F0D6-5A9E-30A6-79364FBE637A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 flipV="1">
            <a:off x="4760179" y="4748105"/>
            <a:ext cx="702946" cy="13950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曲线连接符 73">
            <a:extLst>
              <a:ext uri="{FF2B5EF4-FFF2-40B4-BE49-F238E27FC236}">
                <a16:creationId xmlns:a16="http://schemas.microsoft.com/office/drawing/2014/main" id="{178FFD98-1526-2B2B-6315-A6167E47AAAB}"/>
              </a:ext>
            </a:extLst>
          </p:cNvPr>
          <p:cNvCxnSpPr>
            <a:cxnSpLocks/>
            <a:stCxn id="46" idx="3"/>
            <a:endCxn id="55" idx="1"/>
          </p:cNvCxnSpPr>
          <p:nvPr/>
        </p:nvCxnSpPr>
        <p:spPr>
          <a:xfrm>
            <a:off x="3960248" y="4628730"/>
            <a:ext cx="501999" cy="2588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F968975-386A-7C39-FB9B-856C22A4A680}"/>
              </a:ext>
            </a:extLst>
          </p:cNvPr>
          <p:cNvSpPr txBox="1"/>
          <p:nvPr/>
        </p:nvSpPr>
        <p:spPr>
          <a:xfrm>
            <a:off x="4375256" y="3954261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2025-06-05</a:t>
            </a:r>
            <a:endParaRPr kumimoji="1"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F97D8E0-EC41-E98F-EC9C-2125300473A2}"/>
              </a:ext>
            </a:extLst>
          </p:cNvPr>
          <p:cNvSpPr txBox="1"/>
          <p:nvPr/>
        </p:nvSpPr>
        <p:spPr>
          <a:xfrm>
            <a:off x="4468629" y="4077372"/>
            <a:ext cx="774343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21:04:20</a:t>
            </a:r>
            <a:endParaRPr lang="zh-CN" altLang="en-US" sz="1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6FEEC7E-60E7-D9DC-2822-99873955DCF3}"/>
              </a:ext>
            </a:extLst>
          </p:cNvPr>
          <p:cNvSpPr txBox="1"/>
          <p:nvPr/>
        </p:nvSpPr>
        <p:spPr>
          <a:xfrm>
            <a:off x="1865268" y="4974523"/>
            <a:ext cx="1279500" cy="27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zh-CN" altLang="en-US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E5C1DFE-4CF0-7AF3-FF0A-5806662D8659}"/>
              </a:ext>
            </a:extLst>
          </p:cNvPr>
          <p:cNvSpPr txBox="1"/>
          <p:nvPr/>
        </p:nvSpPr>
        <p:spPr>
          <a:xfrm>
            <a:off x="2631923" y="5230060"/>
            <a:ext cx="504128" cy="27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Netty</a:t>
            </a:r>
            <a:endParaRPr lang="en-GB" altLang="zh-CN" sz="1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8C86F71-6078-8645-0E73-21C0A8C15704}"/>
              </a:ext>
            </a:extLst>
          </p:cNvPr>
          <p:cNvSpPr/>
          <p:nvPr/>
        </p:nvSpPr>
        <p:spPr>
          <a:xfrm>
            <a:off x="3666924" y="5056571"/>
            <a:ext cx="1855462" cy="166356"/>
          </a:xfrm>
          <a:prstGeom prst="rect">
            <a:avLst/>
          </a:prstGeom>
          <a:solidFill>
            <a:schemeClr val="accent4">
              <a:lumMod val="20000"/>
              <a:lumOff val="8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B9DBED06-58C7-E5AB-FD32-F921BC3DE61C}"/>
              </a:ext>
            </a:extLst>
          </p:cNvPr>
          <p:cNvCxnSpPr>
            <a:cxnSpLocks/>
          </p:cNvCxnSpPr>
          <p:nvPr/>
        </p:nvCxnSpPr>
        <p:spPr>
          <a:xfrm>
            <a:off x="7185657" y="4377497"/>
            <a:ext cx="0" cy="11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398D367C-16F0-769E-BF40-080F5547A60F}"/>
              </a:ext>
            </a:extLst>
          </p:cNvPr>
          <p:cNvSpPr txBox="1"/>
          <p:nvPr/>
        </p:nvSpPr>
        <p:spPr>
          <a:xfrm>
            <a:off x="6752217" y="3973155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2025-06-05</a:t>
            </a:r>
            <a:endParaRPr kumimoji="1"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92513F1-2395-9729-A725-BBC28E8AC824}"/>
              </a:ext>
            </a:extLst>
          </p:cNvPr>
          <p:cNvSpPr txBox="1"/>
          <p:nvPr/>
        </p:nvSpPr>
        <p:spPr>
          <a:xfrm>
            <a:off x="6845590" y="4096266"/>
            <a:ext cx="774343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zh-CN" sz="1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21:06:22</a:t>
            </a:r>
            <a:endParaRPr lang="zh-CN" altLang="en-US" sz="1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B0841A7D-140C-BB2E-0CFA-8EC5A056CA0E}"/>
              </a:ext>
            </a:extLst>
          </p:cNvPr>
          <p:cNvSpPr/>
          <p:nvPr/>
        </p:nvSpPr>
        <p:spPr>
          <a:xfrm>
            <a:off x="8449065" y="3519962"/>
            <a:ext cx="247334" cy="144329"/>
          </a:xfrm>
          <a:prstGeom prst="rect">
            <a:avLst/>
          </a:prstGeom>
          <a:solidFill>
            <a:srgbClr val="C00000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BBADB5-A6DB-38C8-1746-5ADAAAF484C5}"/>
              </a:ext>
            </a:extLst>
          </p:cNvPr>
          <p:cNvSpPr txBox="1"/>
          <p:nvPr/>
        </p:nvSpPr>
        <p:spPr>
          <a:xfrm>
            <a:off x="5001397" y="4501885"/>
            <a:ext cx="923456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consequence</a:t>
            </a:r>
            <a:endParaRPr kumimoji="1" lang="zh-CN" altLang="en-US" sz="1000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4560E03-2F86-EC90-A302-E06224F51559}"/>
              </a:ext>
            </a:extLst>
          </p:cNvPr>
          <p:cNvSpPr/>
          <p:nvPr/>
        </p:nvSpPr>
        <p:spPr>
          <a:xfrm>
            <a:off x="8449065" y="3303398"/>
            <a:ext cx="247334" cy="144329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3154233-DC2F-8DBA-A496-A3A24D20BFDC}"/>
              </a:ext>
            </a:extLst>
          </p:cNvPr>
          <p:cNvSpPr/>
          <p:nvPr/>
        </p:nvSpPr>
        <p:spPr>
          <a:xfrm>
            <a:off x="8449065" y="3742569"/>
            <a:ext cx="247334" cy="144329"/>
          </a:xfrm>
          <a:prstGeom prst="rect">
            <a:avLst/>
          </a:prstGeom>
          <a:solidFill>
            <a:srgbClr val="E98B0A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5F49C40-11C5-AFE2-C681-002F1664B3B4}"/>
              </a:ext>
            </a:extLst>
          </p:cNvPr>
          <p:cNvSpPr/>
          <p:nvPr/>
        </p:nvSpPr>
        <p:spPr>
          <a:xfrm>
            <a:off x="8449064" y="3963581"/>
            <a:ext cx="247334" cy="144329"/>
          </a:xfrm>
          <a:prstGeom prst="rect">
            <a:avLst/>
          </a:prstGeom>
          <a:solidFill>
            <a:srgbClr val="7030A0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537D01-796F-09A0-A71A-58738CCC8A2C}"/>
              </a:ext>
            </a:extLst>
          </p:cNvPr>
          <p:cNvSpPr txBox="1"/>
          <p:nvPr/>
        </p:nvSpPr>
        <p:spPr>
          <a:xfrm>
            <a:off x="8643978" y="3258651"/>
            <a:ext cx="774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Operation</a:t>
            </a:r>
            <a:endParaRPr kumimoji="1" lang="zh-CN" altLang="en-US" sz="100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5D11235-4E17-6A0E-CB16-E5A798D57D6C}"/>
              </a:ext>
            </a:extLst>
          </p:cNvPr>
          <p:cNvSpPr txBox="1"/>
          <p:nvPr/>
        </p:nvSpPr>
        <p:spPr>
          <a:xfrm>
            <a:off x="8643978" y="3472246"/>
            <a:ext cx="1107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Error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/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exception</a:t>
            </a:r>
            <a:endParaRPr kumimoji="1" lang="zh-CN" altLang="en-US" sz="1000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7E1C841-0DC9-AAC9-02D6-CFAF913B0801}"/>
              </a:ext>
            </a:extLst>
          </p:cNvPr>
          <p:cNvSpPr txBox="1"/>
          <p:nvPr/>
        </p:nvSpPr>
        <p:spPr>
          <a:xfrm>
            <a:off x="8643691" y="3698934"/>
            <a:ext cx="114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Abnormal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time</a:t>
            </a:r>
            <a:r>
              <a:rPr kumimoji="1" lang="zh-CN" altLang="en-US" sz="1000" dirty="0"/>
              <a:t> 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D649AFD-0171-A691-08C6-A84F8106E446}"/>
              </a:ext>
            </a:extLst>
          </p:cNvPr>
          <p:cNvSpPr txBox="1"/>
          <p:nvPr/>
        </p:nvSpPr>
        <p:spPr>
          <a:xfrm>
            <a:off x="8643977" y="3913577"/>
            <a:ext cx="12119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Excessive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resource</a:t>
            </a:r>
            <a:endParaRPr kumimoji="1" lang="zh-CN" altLang="en-US" sz="10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DA56676-7331-85EA-D116-6AC80E683368}"/>
              </a:ext>
            </a:extLst>
          </p:cNvPr>
          <p:cNvSpPr/>
          <p:nvPr/>
        </p:nvSpPr>
        <p:spPr>
          <a:xfrm>
            <a:off x="7098587" y="4563531"/>
            <a:ext cx="337773" cy="161158"/>
          </a:xfrm>
          <a:prstGeom prst="rect">
            <a:avLst/>
          </a:prstGeom>
          <a:solidFill>
            <a:srgbClr val="E98B0A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13" name="曲线连接符 112">
            <a:extLst>
              <a:ext uri="{FF2B5EF4-FFF2-40B4-BE49-F238E27FC236}">
                <a16:creationId xmlns:a16="http://schemas.microsoft.com/office/drawing/2014/main" id="{E3EF25C5-8CFB-09CD-4E5C-083BCEE8CD94}"/>
              </a:ext>
            </a:extLst>
          </p:cNvPr>
          <p:cNvCxnSpPr>
            <a:cxnSpLocks/>
            <a:stCxn id="53" idx="3"/>
            <a:endCxn id="108" idx="1"/>
          </p:cNvCxnSpPr>
          <p:nvPr/>
        </p:nvCxnSpPr>
        <p:spPr>
          <a:xfrm>
            <a:off x="5924853" y="4624995"/>
            <a:ext cx="1173734" cy="19115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FC285B49-05F4-DE49-6758-3E704A800F77}"/>
              </a:ext>
            </a:extLst>
          </p:cNvPr>
          <p:cNvSpPr/>
          <p:nvPr/>
        </p:nvSpPr>
        <p:spPr>
          <a:xfrm>
            <a:off x="7906023" y="4570023"/>
            <a:ext cx="519803" cy="154649"/>
          </a:xfrm>
          <a:prstGeom prst="rect">
            <a:avLst/>
          </a:prstGeom>
          <a:solidFill>
            <a:srgbClr val="7030A0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24" name="曲线连接符 123">
            <a:extLst>
              <a:ext uri="{FF2B5EF4-FFF2-40B4-BE49-F238E27FC236}">
                <a16:creationId xmlns:a16="http://schemas.microsoft.com/office/drawing/2014/main" id="{15F2F1EC-39F6-85C9-936A-35A90ABDA32E}"/>
              </a:ext>
            </a:extLst>
          </p:cNvPr>
          <p:cNvCxnSpPr>
            <a:stCxn id="108" idx="3"/>
            <a:endCxn id="121" idx="1"/>
          </p:cNvCxnSpPr>
          <p:nvPr/>
        </p:nvCxnSpPr>
        <p:spPr>
          <a:xfrm>
            <a:off x="7436360" y="4644110"/>
            <a:ext cx="469663" cy="32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1768747C-FBCA-B921-E36D-33BDDD8D043D}"/>
              </a:ext>
            </a:extLst>
          </p:cNvPr>
          <p:cNvSpPr/>
          <p:nvPr/>
        </p:nvSpPr>
        <p:spPr>
          <a:xfrm>
            <a:off x="5004965" y="5052289"/>
            <a:ext cx="343350" cy="170637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CE726A2-6549-B05A-5C79-2D55C0462CC6}"/>
              </a:ext>
            </a:extLst>
          </p:cNvPr>
          <p:cNvSpPr/>
          <p:nvPr/>
        </p:nvSpPr>
        <p:spPr>
          <a:xfrm>
            <a:off x="4300782" y="5317060"/>
            <a:ext cx="2485516" cy="162433"/>
          </a:xfrm>
          <a:prstGeom prst="rect">
            <a:avLst/>
          </a:prstGeom>
          <a:solidFill>
            <a:schemeClr val="accent4">
              <a:lumMod val="20000"/>
              <a:lumOff val="8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28" name="曲线连接符 127">
            <a:extLst>
              <a:ext uri="{FF2B5EF4-FFF2-40B4-BE49-F238E27FC236}">
                <a16:creationId xmlns:a16="http://schemas.microsoft.com/office/drawing/2014/main" id="{37F7D001-2524-892F-1CAC-BE0305076D2F}"/>
              </a:ext>
            </a:extLst>
          </p:cNvPr>
          <p:cNvCxnSpPr>
            <a:stCxn id="46" idx="2"/>
            <a:endCxn id="125" idx="1"/>
          </p:cNvCxnSpPr>
          <p:nvPr/>
        </p:nvCxnSpPr>
        <p:spPr>
          <a:xfrm rot="16200000" flipH="1">
            <a:off x="4195301" y="4327944"/>
            <a:ext cx="385768" cy="1233559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1A642CDD-A51B-1695-2E11-5F3395C0361D}"/>
              </a:ext>
            </a:extLst>
          </p:cNvPr>
          <p:cNvSpPr/>
          <p:nvPr/>
        </p:nvSpPr>
        <p:spPr>
          <a:xfrm>
            <a:off x="6340045" y="5305831"/>
            <a:ext cx="343350" cy="170637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7288430-C565-769D-1D1C-E5E8155B0636}"/>
              </a:ext>
            </a:extLst>
          </p:cNvPr>
          <p:cNvSpPr/>
          <p:nvPr/>
        </p:nvSpPr>
        <p:spPr>
          <a:xfrm>
            <a:off x="4676471" y="5311581"/>
            <a:ext cx="343350" cy="170637"/>
          </a:xfrm>
          <a:prstGeom prst="rect">
            <a:avLst/>
          </a:prstGeom>
          <a:solidFill>
            <a:schemeClr val="accent6">
              <a:lumMod val="60000"/>
              <a:lumOff val="40000"/>
              <a:alpha val="929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1" name="曲线连接符 130">
            <a:extLst>
              <a:ext uri="{FF2B5EF4-FFF2-40B4-BE49-F238E27FC236}">
                <a16:creationId xmlns:a16="http://schemas.microsoft.com/office/drawing/2014/main" id="{ED67BFD3-C276-0426-B67A-8F81F13CBC2E}"/>
              </a:ext>
            </a:extLst>
          </p:cNvPr>
          <p:cNvCxnSpPr>
            <a:stCxn id="46" idx="2"/>
            <a:endCxn id="129" idx="1"/>
          </p:cNvCxnSpPr>
          <p:nvPr/>
        </p:nvCxnSpPr>
        <p:spPr>
          <a:xfrm rot="16200000" flipH="1">
            <a:off x="4736070" y="3787175"/>
            <a:ext cx="639310" cy="2568639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曲线连接符 134">
            <a:extLst>
              <a:ext uri="{FF2B5EF4-FFF2-40B4-BE49-F238E27FC236}">
                <a16:creationId xmlns:a16="http://schemas.microsoft.com/office/drawing/2014/main" id="{24A26688-9E9E-3DB4-0CA8-83149BBC282B}"/>
              </a:ext>
            </a:extLst>
          </p:cNvPr>
          <p:cNvCxnSpPr>
            <a:stCxn id="125" idx="1"/>
            <a:endCxn id="133" idx="1"/>
          </p:cNvCxnSpPr>
          <p:nvPr/>
        </p:nvCxnSpPr>
        <p:spPr>
          <a:xfrm rot="10800000" flipV="1">
            <a:off x="4676471" y="5137608"/>
            <a:ext cx="328494" cy="259292"/>
          </a:xfrm>
          <a:prstGeom prst="curvedConnector3">
            <a:avLst>
              <a:gd name="adj1" fmla="val 16959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69AB9789-A192-8AE8-8E5D-56F53C7AB49C}"/>
              </a:ext>
            </a:extLst>
          </p:cNvPr>
          <p:cNvSpPr/>
          <p:nvPr/>
        </p:nvSpPr>
        <p:spPr>
          <a:xfrm>
            <a:off x="5015038" y="5773620"/>
            <a:ext cx="632354" cy="198058"/>
          </a:xfrm>
          <a:prstGeom prst="rect">
            <a:avLst/>
          </a:prstGeom>
          <a:solidFill>
            <a:schemeClr val="bg1">
              <a:alpha val="92941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6F790CA3-CF76-23C7-F3B7-9A226499C36F}"/>
              </a:ext>
            </a:extLst>
          </p:cNvPr>
          <p:cNvSpPr txBox="1"/>
          <p:nvPr/>
        </p:nvSpPr>
        <p:spPr>
          <a:xfrm>
            <a:off x="5647392" y="5698665"/>
            <a:ext cx="1234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Critical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path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93483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8989-3249-E165-55D8-A9F405F5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7741C4-1856-2011-7F1E-346588DA0256}"/>
              </a:ext>
            </a:extLst>
          </p:cNvPr>
          <p:cNvSpPr txBox="1"/>
          <p:nvPr/>
        </p:nvSpPr>
        <p:spPr>
          <a:xfrm>
            <a:off x="4901996" y="2666844"/>
            <a:ext cx="2388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37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C00">
            <a:alpha val="92941"/>
          </a:srgbClr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1127</Words>
  <Application>Microsoft Macintosh PowerPoint</Application>
  <PresentationFormat>宽屏</PresentationFormat>
  <Paragraphs>205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PingFang SC</vt:lpstr>
      <vt:lpstr>Arial</vt:lpstr>
      <vt:lpstr>Consolas</vt:lpstr>
      <vt:lpstr>Office 主题​​</vt:lpstr>
      <vt:lpstr>PowerPoint 演示文稿</vt:lpstr>
      <vt:lpstr>PowerPoint 演示文稿</vt:lpstr>
      <vt:lpstr>Service tracing is necessary for debugging</vt:lpstr>
      <vt:lpstr>Building service dependence is not easy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Qian</dc:creator>
  <cp:lastModifiedBy>Wenbo Qian</cp:lastModifiedBy>
  <cp:revision>25</cp:revision>
  <dcterms:created xsi:type="dcterms:W3CDTF">2026-03-25T05:02:32Z</dcterms:created>
  <dcterms:modified xsi:type="dcterms:W3CDTF">2026-04-28T21:55:37Z</dcterms:modified>
</cp:coreProperties>
</file>