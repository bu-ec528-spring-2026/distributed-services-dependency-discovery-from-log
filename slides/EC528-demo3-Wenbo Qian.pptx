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93" r:id="rId3"/>
    <p:sldId id="300" r:id="rId4"/>
    <p:sldId id="294" r:id="rId5"/>
    <p:sldId id="296" r:id="rId6"/>
    <p:sldId id="301" r:id="rId7"/>
    <p:sldId id="303" r:id="rId8"/>
    <p:sldId id="302" r:id="rId9"/>
    <p:sldId id="297" r:id="rId10"/>
    <p:sldId id="298" r:id="rId11"/>
    <p:sldId id="299" r:id="rId12"/>
    <p:sldId id="304" r:id="rId13"/>
    <p:sldId id="30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F98"/>
    <a:srgbClr val="FEFFB0"/>
    <a:srgbClr val="FF7371"/>
    <a:srgbClr val="E98B0A"/>
    <a:srgbClr val="E99E00"/>
    <a:srgbClr val="FFFC00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/>
    <p:restoredTop sz="94647"/>
  </p:normalViewPr>
  <p:slideViewPr>
    <p:cSldViewPr snapToGrid="0">
      <p:cViewPr varScale="1">
        <p:scale>
          <a:sx n="136" d="100"/>
          <a:sy n="136" d="100"/>
        </p:scale>
        <p:origin x="15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009FC-55BD-6144-8170-0823278A0B5C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C5042-F70B-6746-8293-307E710761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311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4878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51C1-9100-85A2-1790-3775D4BA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D66B44-0087-B501-2E88-DBE1124B7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800C92-2103-EDC5-0A1C-8A6967538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FDA4A2-EFE2-7D99-2278-BAE418A37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4469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88D2D-7CF2-7C67-E512-3F6991588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1785F1-6699-8611-B4A2-BA63CEE89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CC829A-EB7E-E3A9-010F-749A5F1B1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919C8B-4A81-5DEF-CC52-51E1A5F62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9397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2793E-8185-AB2A-CE26-A9C2DB454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B157C-277B-0249-6AEC-4213F8FFE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4CBFD6-186C-20E8-53FB-BB4DA4C51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95E6C8-543F-5A01-6BED-616F8FC46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8185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B3E60-2A3B-6C58-6C90-5594A1532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9FD00A-0083-1DFB-32DD-73B1FF01C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48CE9E-D06B-E579-0BA5-84FE2E858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7304DF-DF0F-A05A-EDF4-2BA8AD7DE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5143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6EFF4-4455-9394-72EE-E81AB51E7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CA203F-27B0-300E-58A9-B99A952D2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7A5E32-1264-29D6-B41B-0C5A86E47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36F16F-5B55-6A1E-C9C1-6B8001D49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13788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F1D7DF-980E-C42A-70EE-919E17865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1BAAD3-D0BB-0E7C-4ECE-691144A48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652853-51A9-1D1B-A04C-9C37CFFD7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5DDE9B-7710-F0A0-5D28-48C6EC4C1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6FA4DD-04C5-6E98-C7C1-E74F49292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7773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435F55-BD29-0164-EC11-56CFCAB12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A898D0-48BE-4B69-165F-4EF653D09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3FDBDC-8E33-4A62-CA7C-338FB39DE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FFC4AB-7E30-8AA1-5696-6E83ED3E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4BF18D-28A7-D327-F870-6E880BC2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9514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B88BA5-7579-43C5-A4F6-CD75B4004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539AFC-40FF-C615-811F-E2A55C9C4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E61DF4-13A4-1E0E-83DE-47E589967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5833DB-DA1B-DBAB-D8B6-D22681EFE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DFAA0E-E504-AF5B-9D68-D3A90AD2F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6135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56134-1663-6A9E-4C9B-2E75A4F16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598B39-6398-DDB3-9F7E-0A3FA30E1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3B8B37-23A9-5530-909A-AC061718D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87FA16-CD46-7A74-A747-B6B04234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EB4A5E-C720-6974-EA81-D091DC9E2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F8728A-8D09-D9E3-B404-F1FEFE2FC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182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A4143-07B0-E1BB-E5A3-B51A6BAC2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267B9F-F51C-2BCC-015F-6EC2D1299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41DF94-529A-525C-5DE9-1A704BCEB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4731F67-D876-7784-C10D-3753254D79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95051D8-82C2-BD5A-292A-9225E434E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99D7745-D132-28BF-194C-452356E22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15350F-B25C-BD1A-FD01-8924AC63D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9C4F9DC-2722-A7CD-0B43-D31198F25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7769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92A688-6D4F-B2A6-52AC-798435BF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AEA38CA-D26B-EB8C-D9C7-FCA7E3AED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5C58D24-E658-382D-8BB7-ACE6035BE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071CB0-ECB1-54A2-23EB-DFA0BB432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6539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9581BD-6D54-3741-976F-9E92443D3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A399858-F94E-3752-6419-37FE7E5C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867263-C714-D4C0-2813-D081DBE3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3704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F6335-850C-58E4-7E6E-393945DB5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C30CFB-5D62-A473-CA14-38848B4CB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FAFC62-8A31-8442-C15F-AA3200045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0686A4-E7EB-39B6-AC66-51BBA0ED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D05A0E-748A-7CC9-BB28-600901B13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0198ED-182D-3641-669F-6964AE75D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0227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08CC5B-A672-33CB-7BA7-D10719556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7D3025-07E4-F6FF-F643-414CAC72F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E9FACB-93DD-536F-8BB4-0F5E9F6E6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039C0D-293A-F3C5-B406-D377EB644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D51156-EF94-DD1D-F469-6B943B5A7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4DA4A1-77C7-1A50-7E25-F742955B5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2384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64232-D5FC-EFC1-081A-8BB771A2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52CAA6-79F8-5BC2-CD08-46CFCFAE6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BD9DD8-F7AF-6225-5090-43FE784C9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ADB436-5B85-4F18-B256-F627303F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E08E20-AFCA-BBAC-10A2-A3BC926F3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4734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0257F05-A86C-1F83-37FD-328D39736A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5B1C48-98B7-8155-4239-F74E6C3DD5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C8B2F8-6030-D10C-6F31-56509983E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1368-D9A4-1C42-A8C3-6651B3568D9D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63141B-C90A-5426-B094-D830E879A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9ACF52-C811-56B7-F044-B93E7F134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3760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30FC9A-3DF5-2915-E7AA-F57C852B3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F48567-1102-519D-0B24-0AC0D6BB7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AF1E9-AAB6-EAF1-68F0-987C440AC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F1368-D9A4-1C42-A8C3-6651B3568D9D}" type="datetimeFigureOut">
              <a:rPr kumimoji="1" lang="zh-CN" altLang="en-US" smtClean="0"/>
              <a:t>2026/4/8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33A7BE-EFDC-FA37-BFD0-468B54BB86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62D34B-7D61-A8E8-A5DB-AB9989011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CD5D28-D658-344D-879A-25A6FAC88B6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435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A13223F-A5D2-B15F-CB07-EE7986C658EA}"/>
              </a:ext>
            </a:extLst>
          </p:cNvPr>
          <p:cNvSpPr txBox="1"/>
          <p:nvPr/>
        </p:nvSpPr>
        <p:spPr>
          <a:xfrm>
            <a:off x="1018703" y="2049882"/>
            <a:ext cx="1015459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Distributed Services Dependency </a:t>
            </a:r>
            <a:r>
              <a:rPr lang="en-GB" altLang="zh-CN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Discovery</a:t>
            </a:r>
            <a:r>
              <a:rPr lang="en-GB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 from Log</a:t>
            </a:r>
            <a:endParaRPr lang="en-GB" altLang="zh-CN" sz="40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1C9D0A-5C52-CACD-2C31-FAA0AC6287FE}"/>
              </a:ext>
            </a:extLst>
          </p:cNvPr>
          <p:cNvSpPr txBox="1"/>
          <p:nvPr/>
        </p:nvSpPr>
        <p:spPr>
          <a:xfrm>
            <a:off x="2782465" y="3976500"/>
            <a:ext cx="66270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GB" altLang="zh-CN" sz="2400" b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Project Proposer: Wenbo Qian</a:t>
            </a:r>
            <a:endParaRPr lang="en-GB" altLang="zh-CN" sz="24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rtl="0">
              <a:buNone/>
            </a:pPr>
            <a:r>
              <a:rPr lang="en-GB" altLang="zh-CN" sz="2400" b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Mentors: Alison Yao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325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7FF-A9A8-6BF1-DAA3-91D480CA2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357EDBF-97C7-C818-1C2A-BE75ED4BDE3D}"/>
              </a:ext>
            </a:extLst>
          </p:cNvPr>
          <p:cNvSpPr txBox="1"/>
          <p:nvPr/>
        </p:nvSpPr>
        <p:spPr>
          <a:xfrm>
            <a:off x="2060084" y="397946"/>
            <a:ext cx="807183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Previous</a:t>
            </a:r>
            <a:r>
              <a:rPr lang="zh-CN" altLang="en-US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Progress:</a:t>
            </a:r>
            <a:r>
              <a:rPr lang="zh-CN" altLang="en-US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altLang="zh-CN" sz="32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Building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Dependency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12382E0-313C-A042-0771-2921EDDCD75C}"/>
              </a:ext>
            </a:extLst>
          </p:cNvPr>
          <p:cNvSpPr/>
          <p:nvPr/>
        </p:nvSpPr>
        <p:spPr>
          <a:xfrm>
            <a:off x="2649893" y="3303037"/>
            <a:ext cx="1732385" cy="111422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Service</a:t>
            </a:r>
            <a:r>
              <a:rPr kumimoji="1" lang="zh-CN" altLang="en-US" b="1" dirty="0">
                <a:solidFill>
                  <a:schemeClr val="tx1"/>
                </a:solidFill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</a:rPr>
              <a:t>1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101A87BF-00CA-5071-95DE-C197454B1C2E}"/>
              </a:ext>
            </a:extLst>
          </p:cNvPr>
          <p:cNvSpPr/>
          <p:nvPr/>
        </p:nvSpPr>
        <p:spPr>
          <a:xfrm>
            <a:off x="6431902" y="1865449"/>
            <a:ext cx="1732385" cy="8913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Service</a:t>
            </a:r>
            <a:r>
              <a:rPr kumimoji="1" lang="zh-CN" altLang="en-US" b="1" dirty="0">
                <a:solidFill>
                  <a:schemeClr val="tx1"/>
                </a:solidFill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</a:rPr>
              <a:t>2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D7F5134-20B2-71AB-B419-70E898FA962E}"/>
              </a:ext>
            </a:extLst>
          </p:cNvPr>
          <p:cNvSpPr/>
          <p:nvPr/>
        </p:nvSpPr>
        <p:spPr>
          <a:xfrm>
            <a:off x="6506546" y="5061544"/>
            <a:ext cx="1732385" cy="8913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Service</a:t>
            </a:r>
            <a:r>
              <a:rPr kumimoji="1" lang="zh-CN" altLang="en-US" b="1" dirty="0">
                <a:solidFill>
                  <a:schemeClr val="tx1"/>
                </a:solidFill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</a:rPr>
              <a:t>3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17" name="肘形连接符 16">
            <a:extLst>
              <a:ext uri="{FF2B5EF4-FFF2-40B4-BE49-F238E27FC236}">
                <a16:creationId xmlns:a16="http://schemas.microsoft.com/office/drawing/2014/main" id="{F7FC261E-C99A-8E8A-1CEA-2037089414E4}"/>
              </a:ext>
            </a:extLst>
          </p:cNvPr>
          <p:cNvCxnSpPr>
            <a:stCxn id="6" idx="2"/>
            <a:endCxn id="15" idx="1"/>
          </p:cNvCxnSpPr>
          <p:nvPr/>
        </p:nvCxnSpPr>
        <p:spPr>
          <a:xfrm rot="16200000" flipH="1">
            <a:off x="4466330" y="3467021"/>
            <a:ext cx="1089972" cy="299046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肘形连接符 19">
            <a:extLst>
              <a:ext uri="{FF2B5EF4-FFF2-40B4-BE49-F238E27FC236}">
                <a16:creationId xmlns:a16="http://schemas.microsoft.com/office/drawing/2014/main" id="{F3B78754-A564-6434-85BC-3DC1F92EACB3}"/>
              </a:ext>
            </a:extLst>
          </p:cNvPr>
          <p:cNvCxnSpPr>
            <a:stCxn id="6" idx="0"/>
            <a:endCxn id="7" idx="1"/>
          </p:cNvCxnSpPr>
          <p:nvPr/>
        </p:nvCxnSpPr>
        <p:spPr>
          <a:xfrm rot="5400000" flipH="1" flipV="1">
            <a:off x="4478047" y="1349182"/>
            <a:ext cx="991895" cy="291581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704FD644-8378-BD56-38A2-AE9016CD7847}"/>
              </a:ext>
            </a:extLst>
          </p:cNvPr>
          <p:cNvSpPr/>
          <p:nvPr/>
        </p:nvSpPr>
        <p:spPr>
          <a:xfrm>
            <a:off x="2672049" y="2093904"/>
            <a:ext cx="1837748" cy="43447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Resource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9" name="肘形连接符 28">
            <a:extLst>
              <a:ext uri="{FF2B5EF4-FFF2-40B4-BE49-F238E27FC236}">
                <a16:creationId xmlns:a16="http://schemas.microsoft.com/office/drawing/2014/main" id="{8C88AF10-7ACA-FCFB-DDAF-AFF4FB063DB3}"/>
              </a:ext>
            </a:extLst>
          </p:cNvPr>
          <p:cNvCxnSpPr>
            <a:cxnSpLocks/>
            <a:stCxn id="15" idx="0"/>
            <a:endCxn id="40" idx="4"/>
          </p:cNvCxnSpPr>
          <p:nvPr/>
        </p:nvCxnSpPr>
        <p:spPr>
          <a:xfrm rot="16200000" flipV="1">
            <a:off x="6886740" y="4575544"/>
            <a:ext cx="971998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椭圆 39">
            <a:extLst>
              <a:ext uri="{FF2B5EF4-FFF2-40B4-BE49-F238E27FC236}">
                <a16:creationId xmlns:a16="http://schemas.microsoft.com/office/drawing/2014/main" id="{7428C08C-8AB2-C636-F6BB-B3AB4293A45A}"/>
              </a:ext>
            </a:extLst>
          </p:cNvPr>
          <p:cNvSpPr/>
          <p:nvPr/>
        </p:nvSpPr>
        <p:spPr>
          <a:xfrm>
            <a:off x="6361921" y="3623957"/>
            <a:ext cx="2021634" cy="46558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Resource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3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57D99197-99F3-3165-D408-37DA3C2EE698}"/>
              </a:ext>
            </a:extLst>
          </p:cNvPr>
          <p:cNvSpPr/>
          <p:nvPr/>
        </p:nvSpPr>
        <p:spPr>
          <a:xfrm>
            <a:off x="2597405" y="5283428"/>
            <a:ext cx="1837748" cy="43447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Resource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三角形 43">
            <a:extLst>
              <a:ext uri="{FF2B5EF4-FFF2-40B4-BE49-F238E27FC236}">
                <a16:creationId xmlns:a16="http://schemas.microsoft.com/office/drawing/2014/main" id="{57E4B0A5-ABCF-20AB-B536-51169A92E5A8}"/>
              </a:ext>
            </a:extLst>
          </p:cNvPr>
          <p:cNvSpPr/>
          <p:nvPr/>
        </p:nvSpPr>
        <p:spPr>
          <a:xfrm>
            <a:off x="3274982" y="2658758"/>
            <a:ext cx="482206" cy="508157"/>
          </a:xfrm>
          <a:prstGeom prst="triangl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5" name="三角形 44">
            <a:extLst>
              <a:ext uri="{FF2B5EF4-FFF2-40B4-BE49-F238E27FC236}">
                <a16:creationId xmlns:a16="http://schemas.microsoft.com/office/drawing/2014/main" id="{AF7BA851-687F-28B8-4BC2-F9FDBA651AB9}"/>
              </a:ext>
            </a:extLst>
          </p:cNvPr>
          <p:cNvSpPr/>
          <p:nvPr/>
        </p:nvSpPr>
        <p:spPr>
          <a:xfrm rot="16200000">
            <a:off x="5024292" y="2065988"/>
            <a:ext cx="482206" cy="508157"/>
          </a:xfrm>
          <a:prstGeom prst="triangl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三角形 45">
            <a:extLst>
              <a:ext uri="{FF2B5EF4-FFF2-40B4-BE49-F238E27FC236}">
                <a16:creationId xmlns:a16="http://schemas.microsoft.com/office/drawing/2014/main" id="{39749CA7-1B8C-889F-95A2-4159EA3DD8BF}"/>
              </a:ext>
            </a:extLst>
          </p:cNvPr>
          <p:cNvSpPr/>
          <p:nvPr/>
        </p:nvSpPr>
        <p:spPr>
          <a:xfrm rot="10800000">
            <a:off x="3271933" y="4583656"/>
            <a:ext cx="482206" cy="50815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三角形 46">
            <a:extLst>
              <a:ext uri="{FF2B5EF4-FFF2-40B4-BE49-F238E27FC236}">
                <a16:creationId xmlns:a16="http://schemas.microsoft.com/office/drawing/2014/main" id="{4A5530B7-A3DE-6455-D9DD-C2AE2972937F}"/>
              </a:ext>
            </a:extLst>
          </p:cNvPr>
          <p:cNvSpPr/>
          <p:nvPr/>
        </p:nvSpPr>
        <p:spPr>
          <a:xfrm rot="5400000">
            <a:off x="5112731" y="5246585"/>
            <a:ext cx="482206" cy="508157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三角形 48">
            <a:extLst>
              <a:ext uri="{FF2B5EF4-FFF2-40B4-BE49-F238E27FC236}">
                <a16:creationId xmlns:a16="http://schemas.microsoft.com/office/drawing/2014/main" id="{1DD2D4E9-A644-FE8D-C385-C700CA6F6A8D}"/>
              </a:ext>
            </a:extLst>
          </p:cNvPr>
          <p:cNvSpPr/>
          <p:nvPr/>
        </p:nvSpPr>
        <p:spPr>
          <a:xfrm>
            <a:off x="7131635" y="4239978"/>
            <a:ext cx="482206" cy="508157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9B135B4-FB61-6E66-53CC-3C26232C7CA2}"/>
              </a:ext>
            </a:extLst>
          </p:cNvPr>
          <p:cNvSpPr txBox="1"/>
          <p:nvPr/>
        </p:nvSpPr>
        <p:spPr>
          <a:xfrm>
            <a:off x="8807078" y="2528377"/>
            <a:ext cx="31220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{"</a:t>
            </a: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GB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service_a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GB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operation_a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GB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service_b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GB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operation_b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"resource"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GB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"}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lvl="1"/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kumimoji="1" lang="en-GB" altLang="zh-CN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29B99CF-5F2B-191E-0B52-3C9098BB0ED7}"/>
              </a:ext>
            </a:extLst>
          </p:cNvPr>
          <p:cNvSpPr txBox="1"/>
          <p:nvPr/>
        </p:nvSpPr>
        <p:spPr>
          <a:xfrm>
            <a:off x="4415443" y="2560790"/>
            <a:ext cx="1732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2.1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BFD2386-7AA6-5F56-BFDE-28ACD7ABC9A2}"/>
              </a:ext>
            </a:extLst>
          </p:cNvPr>
          <p:cNvSpPr txBox="1"/>
          <p:nvPr/>
        </p:nvSpPr>
        <p:spPr>
          <a:xfrm>
            <a:off x="1731212" y="2778455"/>
            <a:ext cx="1732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/>
              <a:t>1.1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E56F0CF-6DD3-8D3A-78EE-A75C759B6FC5}"/>
              </a:ext>
            </a:extLst>
          </p:cNvPr>
          <p:cNvSpPr txBox="1"/>
          <p:nvPr/>
        </p:nvSpPr>
        <p:spPr>
          <a:xfrm>
            <a:off x="1805856" y="4651490"/>
            <a:ext cx="1732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/>
              <a:t>1.2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8F46F84-750F-0876-DA0A-E3959D27AEE9}"/>
              </a:ext>
            </a:extLst>
          </p:cNvPr>
          <p:cNvSpPr txBox="1"/>
          <p:nvPr/>
        </p:nvSpPr>
        <p:spPr>
          <a:xfrm>
            <a:off x="4435153" y="5795841"/>
            <a:ext cx="1732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3</a:t>
            </a:r>
            <a:r>
              <a:rPr kumimoji="1" lang="en-US" altLang="zh-CN" dirty="0"/>
              <a:t>.1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97D90D3A-9068-220D-1800-99FA34F9A1C2}"/>
              </a:ext>
            </a:extLst>
          </p:cNvPr>
          <p:cNvCxnSpPr>
            <a:stCxn id="6" idx="3"/>
            <a:endCxn id="40" idx="2"/>
          </p:cNvCxnSpPr>
          <p:nvPr/>
        </p:nvCxnSpPr>
        <p:spPr>
          <a:xfrm flipV="1">
            <a:off x="4382278" y="3856752"/>
            <a:ext cx="1979643" cy="33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三角形 47">
            <a:extLst>
              <a:ext uri="{FF2B5EF4-FFF2-40B4-BE49-F238E27FC236}">
                <a16:creationId xmlns:a16="http://schemas.microsoft.com/office/drawing/2014/main" id="{67DA6C94-C44D-68AC-2E60-80C90E8FE685}"/>
              </a:ext>
            </a:extLst>
          </p:cNvPr>
          <p:cNvSpPr/>
          <p:nvPr/>
        </p:nvSpPr>
        <p:spPr>
          <a:xfrm rot="5400000">
            <a:off x="5153968" y="3608673"/>
            <a:ext cx="482206" cy="508157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4BBA8B9-1EE6-6E10-7AE8-62C090525876}"/>
              </a:ext>
            </a:extLst>
          </p:cNvPr>
          <p:cNvSpPr txBox="1"/>
          <p:nvPr/>
        </p:nvSpPr>
        <p:spPr>
          <a:xfrm>
            <a:off x="7131635" y="4282158"/>
            <a:ext cx="1732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3</a:t>
            </a:r>
            <a:r>
              <a:rPr kumimoji="1" lang="en-US" altLang="zh-CN" dirty="0"/>
              <a:t>.2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048" name="文本框 2047">
            <a:extLst>
              <a:ext uri="{FF2B5EF4-FFF2-40B4-BE49-F238E27FC236}">
                <a16:creationId xmlns:a16="http://schemas.microsoft.com/office/drawing/2014/main" id="{24F2AE3A-5BB0-1F6B-D458-5BE97217B4FC}"/>
              </a:ext>
            </a:extLst>
          </p:cNvPr>
          <p:cNvSpPr txBox="1"/>
          <p:nvPr/>
        </p:nvSpPr>
        <p:spPr>
          <a:xfrm>
            <a:off x="4782957" y="3306153"/>
            <a:ext cx="1732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Op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/>
              <a:t>1.3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339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6332F-256A-D626-07B1-D6A634F89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9E7AD23-A102-2B47-A253-382E514DE6E6}"/>
              </a:ext>
            </a:extLst>
          </p:cNvPr>
          <p:cNvSpPr txBox="1"/>
          <p:nvPr/>
        </p:nvSpPr>
        <p:spPr>
          <a:xfrm>
            <a:off x="3399762" y="473530"/>
            <a:ext cx="53924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Previous</a:t>
            </a:r>
            <a:r>
              <a:rPr lang="zh-CN" altLang="en-US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Progress:</a:t>
            </a:r>
            <a:r>
              <a:rPr lang="zh-CN" altLang="en-US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algn="ctr"/>
            <a:r>
              <a:rPr lang="en-GB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Preliminary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65BB6E-184D-285C-CFAD-ED5D3BB2B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68" y="1768033"/>
            <a:ext cx="11502463" cy="461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298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1F75850-F981-B3D5-DD15-D4033DBE2BA6}"/>
              </a:ext>
            </a:extLst>
          </p:cNvPr>
          <p:cNvSpPr txBox="1"/>
          <p:nvPr/>
        </p:nvSpPr>
        <p:spPr>
          <a:xfrm>
            <a:off x="986899" y="648592"/>
            <a:ext cx="102182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Discover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nomaly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F38117-8B6F-8CA8-165B-CF437410D65A}"/>
              </a:ext>
            </a:extLst>
          </p:cNvPr>
          <p:cNvSpPr txBox="1"/>
          <p:nvPr/>
        </p:nvSpPr>
        <p:spPr>
          <a:xfrm>
            <a:off x="1500549" y="1801204"/>
            <a:ext cx="970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r>
              <a: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</a:t>
            </a:r>
            <a:r>
              <a: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automatically</a:t>
            </a:r>
            <a:r>
              <a: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symptoms</a:t>
            </a:r>
            <a:r>
              <a: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logs?</a:t>
            </a:r>
            <a:endParaRPr lang="en-GB" altLang="zh-CN" sz="24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0E3F89-9A00-B092-796D-08D01B6CA9F6}"/>
              </a:ext>
            </a:extLst>
          </p:cNvPr>
          <p:cNvSpPr txBox="1"/>
          <p:nvPr/>
        </p:nvSpPr>
        <p:spPr>
          <a:xfrm>
            <a:off x="1500549" y="4179633"/>
            <a:ext cx="94028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r>
              <a: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2:</a:t>
            </a:r>
            <a:r>
              <a: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automatically connect</a:t>
            </a:r>
            <a:r>
              <a: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symptom </a:t>
            </a:r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its</a:t>
            </a:r>
            <a:r>
              <a: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root-cause</a:t>
            </a:r>
            <a:r>
              <a: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service?</a:t>
            </a:r>
            <a:r>
              <a: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altLang="zh-CN" sz="24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C92760B-6035-8985-D2B8-FE3A034E4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662" y="2495256"/>
            <a:ext cx="4912514" cy="13226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B6E105E-F7FE-9D0E-1DEE-7F26BCB1F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694" y="5051478"/>
            <a:ext cx="5795921" cy="136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717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88E28-E709-AF2F-70B9-6FBF88655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058B4D5-668B-DBCC-134F-893EC4BD07EB}"/>
              </a:ext>
            </a:extLst>
          </p:cNvPr>
          <p:cNvSpPr txBox="1"/>
          <p:nvPr/>
        </p:nvSpPr>
        <p:spPr>
          <a:xfrm>
            <a:off x="1449258" y="678622"/>
            <a:ext cx="928878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Automatically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Symptoms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Logs</a:t>
            </a:r>
            <a:endParaRPr lang="en-GB" altLang="zh-CN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B93AC8-449E-F4C3-CB14-1905DA2F8AAD}"/>
              </a:ext>
            </a:extLst>
          </p:cNvPr>
          <p:cNvSpPr txBox="1"/>
          <p:nvPr/>
        </p:nvSpPr>
        <p:spPr>
          <a:xfrm>
            <a:off x="1449258" y="1885142"/>
            <a:ext cx="60977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Different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forms of </a:t>
            </a:r>
            <a:r>
              <a:rPr lang="en-GB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symptom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C00000"/>
                </a:solidFill>
              </a:rPr>
              <a:t>Error</a:t>
            </a:r>
            <a:r>
              <a:rPr lang="zh-CN" altLang="en-US" sz="2000" b="1" dirty="0">
                <a:solidFill>
                  <a:srgbClr val="C00000"/>
                </a:solidFill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</a:rPr>
              <a:t>exception</a:t>
            </a:r>
            <a:endParaRPr lang="en-GB" altLang="zh-CN" sz="2000" b="1" dirty="0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C00000"/>
                </a:solidFill>
              </a:rPr>
              <a:t>A</a:t>
            </a:r>
            <a:r>
              <a:rPr lang="en-GB" altLang="zh-CN" sz="2000" b="1" dirty="0" err="1">
                <a:solidFill>
                  <a:srgbClr val="C00000"/>
                </a:solidFill>
              </a:rPr>
              <a:t>bnormal</a:t>
            </a:r>
            <a:r>
              <a:rPr lang="en-GB" altLang="zh-CN" sz="2000" b="1" dirty="0">
                <a:solidFill>
                  <a:srgbClr val="C00000"/>
                </a:solidFill>
              </a:rPr>
              <a:t> execution time</a:t>
            </a:r>
            <a:endParaRPr lang="en-GB" altLang="zh-CN" sz="2000" dirty="0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C00000"/>
                </a:solidFill>
              </a:rPr>
              <a:t>Excessive resource usage</a:t>
            </a:r>
            <a:endParaRPr lang="en-GB" altLang="zh-CN" sz="2000" b="1" dirty="0">
              <a:solidFill>
                <a:srgbClr val="C0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14FD2E-F76A-257D-573B-F8523BFEFD84}"/>
              </a:ext>
            </a:extLst>
          </p:cNvPr>
          <p:cNvSpPr txBox="1"/>
          <p:nvPr/>
        </p:nvSpPr>
        <p:spPr>
          <a:xfrm>
            <a:off x="1449258" y="3806072"/>
            <a:ext cx="1046436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Prior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work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identifying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symptoms: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Rely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input: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altLang="zh-CN" b="1" dirty="0"/>
              <a:t>Relational Debugging</a:t>
            </a:r>
            <a:r>
              <a:rPr lang="zh-CN" altLang="en-US" b="1" dirty="0"/>
              <a:t> </a:t>
            </a:r>
            <a:r>
              <a:rPr lang="en-US" altLang="zh-CN" b="1" dirty="0"/>
              <a:t>(OSDI</a:t>
            </a:r>
            <a:r>
              <a:rPr lang="zh-CN" altLang="en-US" b="1" dirty="0"/>
              <a:t> </a:t>
            </a:r>
            <a:r>
              <a:rPr lang="en-US" altLang="zh-CN" b="1" dirty="0"/>
              <a:t>’23)</a:t>
            </a:r>
          </a:p>
          <a:p>
            <a:r>
              <a:rPr lang="en-US" altLang="zh-CN" dirty="0"/>
              <a:t>		</a:t>
            </a:r>
            <a:r>
              <a:rPr lang="en-US" altLang="zh-CN" sz="1600" i="1" dirty="0"/>
              <a:t>”</a:t>
            </a:r>
            <a:r>
              <a:rPr lang="en-GB" altLang="zh-CN" sz="1600" i="1" dirty="0" err="1"/>
              <a:t>Perspect</a:t>
            </a:r>
            <a:r>
              <a:rPr lang="zh-CN" altLang="en-US" sz="1600" i="1" dirty="0"/>
              <a:t> </a:t>
            </a:r>
            <a:r>
              <a:rPr lang="en-GB" altLang="zh-CN" sz="1600" i="1" dirty="0"/>
              <a:t>takes the symptoms (such as a program counter that indicates</a:t>
            </a:r>
            <a:r>
              <a:rPr lang="zh-CN" altLang="en-US" sz="1600" i="1" dirty="0"/>
              <a:t> </a:t>
            </a:r>
            <a:r>
              <a:rPr lang="en-GB" altLang="zh-CN" sz="1600" i="1" dirty="0"/>
              <a:t>excessive 			memory usage or a function with abnormal execution time) as inputs.</a:t>
            </a:r>
            <a:r>
              <a:rPr lang="en-US" altLang="zh-CN" sz="1600" i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2836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58E71-2767-529D-684A-F67C45660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243F9D5-0FDB-AB5C-C76D-0499BC79133D}"/>
              </a:ext>
            </a:extLst>
          </p:cNvPr>
          <p:cNvSpPr txBox="1"/>
          <p:nvPr/>
        </p:nvSpPr>
        <p:spPr>
          <a:xfrm>
            <a:off x="1221577" y="591725"/>
            <a:ext cx="974884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Automatically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symptoms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logs</a:t>
            </a:r>
            <a:endParaRPr lang="en-GB" altLang="zh-CN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1D8E40-2105-975E-1FD3-F5EDD5A8B7CA}"/>
              </a:ext>
            </a:extLst>
          </p:cNvPr>
          <p:cNvSpPr txBox="1"/>
          <p:nvPr/>
        </p:nvSpPr>
        <p:spPr>
          <a:xfrm>
            <a:off x="1502344" y="1752933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approach:</a:t>
            </a: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Template-based</a:t>
            </a: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altLang="zh-CN" sz="20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3A1EC57-AE2F-3155-EEF2-AD2DDA824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963" y="2206256"/>
            <a:ext cx="5198046" cy="352434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9547F0A-CE01-7B92-3366-911B081C8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059" y="2629097"/>
            <a:ext cx="5015419" cy="33167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310C3D5-1EB8-C0D5-117C-18E0FDE502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156" y="2992611"/>
            <a:ext cx="5015418" cy="349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623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AB62F-485A-AAEF-1375-70986458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847A89D-4218-1112-33D7-E3F69F16FE4A}"/>
              </a:ext>
            </a:extLst>
          </p:cNvPr>
          <p:cNvSpPr txBox="1"/>
          <p:nvPr/>
        </p:nvSpPr>
        <p:spPr>
          <a:xfrm>
            <a:off x="1129687" y="912174"/>
            <a:ext cx="103929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2: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Automatically connect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symptom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root-cause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  <a:endParaRPr lang="en-GB" altLang="zh-CN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0B478F-CE11-D66E-7A4F-AC47C307D7A5}"/>
              </a:ext>
            </a:extLst>
          </p:cNvPr>
          <p:cNvSpPr txBox="1"/>
          <p:nvPr/>
        </p:nvSpPr>
        <p:spPr>
          <a:xfrm>
            <a:off x="1891155" y="2342349"/>
            <a:ext cx="11095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1:</a:t>
            </a:r>
            <a:r>
              <a: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927EF90-C5F8-529F-6CAD-D19C9C238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594" y="2342349"/>
            <a:ext cx="4926300" cy="112168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3E6C2BB-FA8A-FC3E-8C7F-B7BEC9DCC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753" y="4619634"/>
            <a:ext cx="8961848" cy="132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609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8AE1F-020D-98D9-84FB-C26ABA19E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4D5D18B-4EF3-5BC3-C21D-4F5A0FF38AB2}"/>
              </a:ext>
            </a:extLst>
          </p:cNvPr>
          <p:cNvSpPr txBox="1"/>
          <p:nvPr/>
        </p:nvSpPr>
        <p:spPr>
          <a:xfrm>
            <a:off x="1611756" y="2411240"/>
            <a:ext cx="7956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2: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invalid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connections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casual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11369B-4E0F-72B6-C042-20A3068184AE}"/>
              </a:ext>
            </a:extLst>
          </p:cNvPr>
          <p:cNvSpPr txBox="1"/>
          <p:nvPr/>
        </p:nvSpPr>
        <p:spPr>
          <a:xfrm>
            <a:off x="899532" y="855613"/>
            <a:ext cx="103929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2: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Automatically connect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symptom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root-cause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  <a:endParaRPr lang="en-GB" altLang="zh-CN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672061B-FEC6-9C10-0D5D-7D37B7E0E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314" y="3409427"/>
            <a:ext cx="8818058" cy="151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637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AB005-098F-3950-C025-56BFFB53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03FA960-0DC3-DE76-2BA3-B4C2D65B7588}"/>
              </a:ext>
            </a:extLst>
          </p:cNvPr>
          <p:cNvSpPr txBox="1"/>
          <p:nvPr/>
        </p:nvSpPr>
        <p:spPr>
          <a:xfrm>
            <a:off x="3918524" y="332047"/>
            <a:ext cx="4354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Preliminary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8EA829E-780C-DCE2-168C-F3F896364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877" y="978378"/>
            <a:ext cx="8582246" cy="567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058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48A83-8333-31C4-90D3-7A1D412C6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711120A-664D-115C-03DF-66CF5E7E7A26}"/>
              </a:ext>
            </a:extLst>
          </p:cNvPr>
          <p:cNvSpPr txBox="1"/>
          <p:nvPr/>
        </p:nvSpPr>
        <p:spPr>
          <a:xfrm>
            <a:off x="3918524" y="300386"/>
            <a:ext cx="4354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Preliminary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CE662780-7908-E990-B4A7-BB241BAB9CAA}"/>
              </a:ext>
            </a:extLst>
          </p:cNvPr>
          <p:cNvCxnSpPr>
            <a:cxnSpLocks/>
          </p:cNvCxnSpPr>
          <p:nvPr/>
        </p:nvCxnSpPr>
        <p:spPr>
          <a:xfrm>
            <a:off x="5595288" y="3632850"/>
            <a:ext cx="0" cy="603728"/>
          </a:xfrm>
          <a:prstGeom prst="straightConnector1">
            <a:avLst/>
          </a:prstGeom>
          <a:ln w="1016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9910F620-FE70-A595-ABB6-AB730F1C1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157" y="946717"/>
            <a:ext cx="3956262" cy="261757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33DAAAC-563D-1052-AA77-16F4057E3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63" y="4236578"/>
            <a:ext cx="7772400" cy="191289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F0E4E16-278C-D1F9-F3B7-0B1246650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037" y="5121794"/>
            <a:ext cx="7772400" cy="163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477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4B9B7-9304-EE1A-CBD6-4F02A9FA9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B3818D9-0E06-4101-DBA0-9F1FAB8BCBCC}"/>
              </a:ext>
            </a:extLst>
          </p:cNvPr>
          <p:cNvSpPr txBox="1"/>
          <p:nvPr/>
        </p:nvSpPr>
        <p:spPr>
          <a:xfrm>
            <a:off x="3918524" y="281862"/>
            <a:ext cx="4354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Preliminary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A8FBCA0E-E4C9-579D-0A41-15C2CF53D9DF}"/>
              </a:ext>
            </a:extLst>
          </p:cNvPr>
          <p:cNvCxnSpPr>
            <a:cxnSpLocks/>
          </p:cNvCxnSpPr>
          <p:nvPr/>
        </p:nvCxnSpPr>
        <p:spPr>
          <a:xfrm>
            <a:off x="5532795" y="2395371"/>
            <a:ext cx="0" cy="603728"/>
          </a:xfrm>
          <a:prstGeom prst="straightConnector1">
            <a:avLst/>
          </a:prstGeom>
          <a:ln w="1016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637BD6FF-F78B-F642-9D85-836562010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936" y="1127051"/>
            <a:ext cx="5098078" cy="125470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4CFAD25-AFC1-AC6A-097B-FE48A04C6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581" y="1313807"/>
            <a:ext cx="5152819" cy="108156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0D5A9E0-6E5E-C75E-5221-16F789AB6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4860" y="2953001"/>
            <a:ext cx="7772400" cy="3904999"/>
          </a:xfrm>
          <a:prstGeom prst="rect">
            <a:avLst/>
          </a:prstGeom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1FC72B04-C3DD-EEE8-6ECC-F4A901C3FC38}"/>
              </a:ext>
            </a:extLst>
          </p:cNvPr>
          <p:cNvSpPr/>
          <p:nvPr/>
        </p:nvSpPr>
        <p:spPr>
          <a:xfrm>
            <a:off x="8005459" y="3009325"/>
            <a:ext cx="863438" cy="239658"/>
          </a:xfrm>
          <a:prstGeom prst="ellipse">
            <a:avLst/>
          </a:prstGeom>
          <a:solidFill>
            <a:srgbClr val="E98B0A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D1D6F4E-E6DC-E39F-B03D-EE812659638C}"/>
              </a:ext>
            </a:extLst>
          </p:cNvPr>
          <p:cNvSpPr/>
          <p:nvPr/>
        </p:nvSpPr>
        <p:spPr>
          <a:xfrm>
            <a:off x="8005459" y="3438227"/>
            <a:ext cx="893135" cy="233644"/>
          </a:xfrm>
          <a:prstGeom prst="ellipse">
            <a:avLst/>
          </a:prstGeom>
          <a:solidFill>
            <a:srgbClr val="FF737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31BA5A3-1FD0-CB91-7A6C-EB29E53C5E1F}"/>
              </a:ext>
            </a:extLst>
          </p:cNvPr>
          <p:cNvSpPr/>
          <p:nvPr/>
        </p:nvSpPr>
        <p:spPr>
          <a:xfrm>
            <a:off x="8005459" y="3855407"/>
            <a:ext cx="922831" cy="233644"/>
          </a:xfrm>
          <a:prstGeom prst="ellipse">
            <a:avLst/>
          </a:prstGeom>
          <a:solidFill>
            <a:srgbClr val="FEFFB0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5865C49-0E4E-17E9-CABA-E99B2F453A3F}"/>
              </a:ext>
            </a:extLst>
          </p:cNvPr>
          <p:cNvSpPr txBox="1"/>
          <p:nvPr/>
        </p:nvSpPr>
        <p:spPr>
          <a:xfrm>
            <a:off x="8928290" y="3328710"/>
            <a:ext cx="2248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73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GB" altLang="zh-CN" b="1" dirty="0" err="1">
                <a:solidFill>
                  <a:srgbClr val="FF737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rror</a:t>
            </a:r>
            <a:r>
              <a:rPr lang="zh-CN" altLang="en-US" b="1" dirty="0">
                <a:solidFill>
                  <a:srgbClr val="FF73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b="1" dirty="0">
                <a:solidFill>
                  <a:srgbClr val="FF737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exception</a:t>
            </a:r>
            <a:r>
              <a:rPr lang="en-GB" altLang="zh-CN" b="1" dirty="0">
                <a:solidFill>
                  <a:srgbClr val="FF73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lang="zh-CN" altLang="en-US" b="1" dirty="0">
              <a:solidFill>
                <a:srgbClr val="FF737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453A60B-DCAB-8C72-6FFE-911829668231}"/>
              </a:ext>
            </a:extLst>
          </p:cNvPr>
          <p:cNvSpPr txBox="1"/>
          <p:nvPr/>
        </p:nvSpPr>
        <p:spPr>
          <a:xfrm>
            <a:off x="8928290" y="3728975"/>
            <a:ext cx="3468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EF9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altLang="zh-CN" b="1" dirty="0" err="1">
                <a:solidFill>
                  <a:srgbClr val="FFEF9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bnormal</a:t>
            </a:r>
            <a:r>
              <a:rPr lang="zh-CN" altLang="en-US" b="1" dirty="0">
                <a:solidFill>
                  <a:srgbClr val="FFEF9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b="1" dirty="0">
                <a:solidFill>
                  <a:srgbClr val="FFEF9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execution</a:t>
            </a:r>
            <a:r>
              <a:rPr lang="zh-CN" altLang="en-US" b="1" dirty="0">
                <a:solidFill>
                  <a:srgbClr val="FFEF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b="1" dirty="0">
                <a:solidFill>
                  <a:srgbClr val="FFEF9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endParaRPr lang="zh-CN" altLang="en-US" b="1" dirty="0">
              <a:solidFill>
                <a:srgbClr val="FFEF9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476A148-B03B-E822-ABBF-1BCD298B68B9}"/>
              </a:ext>
            </a:extLst>
          </p:cNvPr>
          <p:cNvSpPr txBox="1"/>
          <p:nvPr/>
        </p:nvSpPr>
        <p:spPr>
          <a:xfrm>
            <a:off x="8898594" y="2928445"/>
            <a:ext cx="3617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>
                <a:solidFill>
                  <a:srgbClr val="E98B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Excessive</a:t>
            </a:r>
            <a:r>
              <a:rPr lang="zh-CN" altLang="en-US" b="1" dirty="0">
                <a:solidFill>
                  <a:srgbClr val="E98B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b="1" dirty="0">
                <a:solidFill>
                  <a:srgbClr val="E98B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resource</a:t>
            </a:r>
            <a:r>
              <a:rPr lang="zh-CN" altLang="en-US" b="1" dirty="0">
                <a:solidFill>
                  <a:srgbClr val="E98B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b="1" dirty="0">
                <a:solidFill>
                  <a:srgbClr val="E98B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usage</a:t>
            </a:r>
            <a:endParaRPr lang="zh-CN" altLang="en-US" b="1" dirty="0">
              <a:solidFill>
                <a:srgbClr val="E98B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483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087A4-4B97-DD0B-6EEF-AD1C86682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7772EC8-5FF3-594B-02A2-7FE12C288563}"/>
              </a:ext>
            </a:extLst>
          </p:cNvPr>
          <p:cNvSpPr txBox="1"/>
          <p:nvPr/>
        </p:nvSpPr>
        <p:spPr>
          <a:xfrm>
            <a:off x="4690678" y="838044"/>
            <a:ext cx="23880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Next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endParaRPr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F592AE-AAA4-B04D-8E95-DCA950FF6209}"/>
              </a:ext>
            </a:extLst>
          </p:cNvPr>
          <p:cNvSpPr txBox="1"/>
          <p:nvPr/>
        </p:nvSpPr>
        <p:spPr>
          <a:xfrm>
            <a:off x="1550708" y="4037327"/>
            <a:ext cx="86679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higher-level representation of performance data that hide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inconsistencies</a:t>
            </a:r>
            <a:endParaRPr lang="en-GB" altLang="zh-CN" sz="24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833B9FF-C501-43AE-7660-B11184917A39}"/>
              </a:ext>
            </a:extLst>
          </p:cNvPr>
          <p:cNvSpPr txBox="1"/>
          <p:nvPr/>
        </p:nvSpPr>
        <p:spPr>
          <a:xfrm>
            <a:off x="2374769" y="1963848"/>
            <a:ext cx="74424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ifferent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versions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could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inconsistencies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low-level abnormal</a:t>
            </a:r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events.</a:t>
            </a:r>
            <a:endParaRPr lang="zh-CN" altLang="en-US" sz="2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306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F8989-3249-E165-55D8-A9F405F57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A7741C4-1856-2011-7F1E-346588DA0256}"/>
              </a:ext>
            </a:extLst>
          </p:cNvPr>
          <p:cNvSpPr txBox="1"/>
          <p:nvPr/>
        </p:nvSpPr>
        <p:spPr>
          <a:xfrm>
            <a:off x="4901996" y="2666844"/>
            <a:ext cx="2388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373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C00">
            <a:alpha val="92941"/>
          </a:srgbClr>
        </a:solidFill>
        <a:ln>
          <a:noFill/>
        </a:ln>
      </a:spPr>
      <a:bodyPr rtlCol="0" anchor="ctr"/>
      <a:lstStyle>
        <a:defPPr algn="ctr">
          <a:defRPr kumimoji="1"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292</Words>
  <Application>Microsoft Macintosh PowerPoint</Application>
  <PresentationFormat>宽屏</PresentationFormat>
  <Paragraphs>63</Paragraphs>
  <Slides>13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等线 Light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Wenbo Qian</dc:creator>
  <cp:lastModifiedBy>Wenbo Qian</cp:lastModifiedBy>
  <cp:revision>8</cp:revision>
  <dcterms:created xsi:type="dcterms:W3CDTF">2026-03-25T05:02:32Z</dcterms:created>
  <dcterms:modified xsi:type="dcterms:W3CDTF">2026-04-08T10:03:26Z</dcterms:modified>
</cp:coreProperties>
</file>