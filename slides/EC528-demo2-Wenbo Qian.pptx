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90" r:id="rId3"/>
    <p:sldId id="276" r:id="rId4"/>
    <p:sldId id="269" r:id="rId5"/>
    <p:sldId id="293" r:id="rId6"/>
    <p:sldId id="296" r:id="rId7"/>
    <p:sldId id="295" r:id="rId8"/>
    <p:sldId id="297" r:id="rId9"/>
    <p:sldId id="298" r:id="rId10"/>
    <p:sldId id="299" r:id="rId11"/>
    <p:sldId id="29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60"/>
  </p:normalViewPr>
  <p:slideViewPr>
    <p:cSldViewPr snapToGrid="0">
      <p:cViewPr varScale="1">
        <p:scale>
          <a:sx n="137" d="100"/>
          <a:sy n="13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009FC-55BD-6144-8170-0823278A0B5C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C5042-F70B-6746-8293-307E710761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1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48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approaches to dependency mapping rely on static configuration files, manual documentation, or instrumented distributed tracing. However, these methods have significant limitations: configuration files drift from reality, documentation requires constant maintenance, and tracing instrumentation may be incomplete or unavailable in modern cloud systems.</a:t>
            </a:r>
            <a:endParaRPr lang="en-GB" altLang="zh-CN" b="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DA7-CC6F-7740-84FD-04270A106C3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047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is: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rich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hints,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every service produces logs that contain implicit signals about inter-service communication: HTTP requests, RPC calls, database queries, and message queue interactions.</a:t>
            </a:r>
            <a:endParaRPr kumimoji="1" lang="en-US" altLang="zh-CN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4401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involved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challenge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is: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 err="1"/>
              <a:t>ccurately</a:t>
            </a:r>
            <a:r>
              <a:rPr kumimoji="1" lang="zh-CN" altLang="en-US" dirty="0"/>
              <a:t> </a:t>
            </a:r>
            <a:r>
              <a:rPr kumimoji="1" lang="en-GB" altLang="zh-CN" dirty="0"/>
              <a:t>reconstruct this hidden interaction from noisy text without</a:t>
            </a:r>
            <a:r>
              <a:rPr kumimoji="1" lang="zh-CN" altLang="en-US" dirty="0"/>
              <a:t> </a:t>
            </a:r>
            <a:r>
              <a:rPr kumimoji="1" lang="en-GB" altLang="zh-CN" dirty="0"/>
              <a:t>requiring domain-specific instrumentation for every new service.</a:t>
            </a:r>
          </a:p>
          <a:p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GB" altLang="zh-CN" dirty="0"/>
              <a:t>employs an agent-based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</a:t>
            </a:r>
            <a:r>
              <a:rPr kumimoji="1" lang="en-GB" altLang="zh-CN" dirty="0" err="1"/>
              <a:t>nteraction</a:t>
            </a:r>
            <a:r>
              <a:rPr kumimoji="1" lang="en-GB" altLang="zh-CN" dirty="0"/>
              <a:t> </a:t>
            </a:r>
            <a:r>
              <a:rPr kumimoji="1" lang="en-US" altLang="zh-CN" dirty="0"/>
              <a:t>e</a:t>
            </a:r>
            <a:r>
              <a:rPr kumimoji="1" lang="en-GB" altLang="zh-CN" dirty="0" err="1"/>
              <a:t>xtractor</a:t>
            </a:r>
            <a:r>
              <a:rPr kumimoji="1" lang="en-GB" altLang="zh-CN" dirty="0"/>
              <a:t> to infer interactions between applications</a:t>
            </a:r>
            <a:r>
              <a:rPr kumimoji="1" lang="zh-CN" altLang="en-US" dirty="0"/>
              <a:t> </a:t>
            </a:r>
            <a:r>
              <a:rPr kumimoji="1" lang="en-GB" altLang="zh-CN" dirty="0"/>
              <a:t>using logs and traces outputted from the Lightweight Anomaly</a:t>
            </a:r>
            <a:r>
              <a:rPr kumimoji="1" lang="zh-CN" altLang="en-US" dirty="0"/>
              <a:t> </a:t>
            </a:r>
            <a:r>
              <a:rPr kumimoji="1" lang="en-GB" altLang="zh-CN" dirty="0"/>
              <a:t>Detector.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tuple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type: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slides)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668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1C1-9100-85A2-1790-3775D4B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D66B44-0087-B501-2E88-DBE1124B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800C92-2103-EDC5-0A1C-8A6967538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DA4A2-EFE2-7D99-2278-BAE418A37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469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88D2D-7CF2-7C67-E512-3F6991588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1785F1-6699-8611-B4A2-BA63CEE89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CC829A-EB7E-E3A9-010F-749A5F1B1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19C8B-4A81-5DEF-CC52-51E1A5F62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9397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F59D-E7A8-1B54-6F1E-DA46711C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F172EB-6813-5A15-F18C-1782F252B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839EB3-7BB4-D150-2863-E98CDE9A9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2918A-C1FE-3A82-9DBF-CA6F4550E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30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1D7DF-980E-C42A-70EE-919E17865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1BAAD3-D0BB-0E7C-4ECE-691144A48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652853-51A9-1D1B-A04C-9C37CFFD7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DDE9B-7710-F0A0-5D28-48C6EC4C1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6FA4DD-04C5-6E98-C7C1-E74F4929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777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35F55-BD29-0164-EC11-56CFCAB1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A898D0-48BE-4B69-165F-4EF653D09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3FDBDC-8E33-4A62-CA7C-338FB39D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FC4AB-7E30-8AA1-5696-6E83ED3E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BF18D-28A7-D327-F870-6E880BC2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51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88BA5-7579-43C5-A4F6-CD75B400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539AFC-40FF-C615-811F-E2A55C9C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61DF4-13A4-1E0E-83DE-47E58996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5833DB-DA1B-DBAB-D8B6-D22681EF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DFAA0E-E504-AF5B-9D68-D3A90AD2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13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56134-1663-6A9E-4C9B-2E75A4F1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98B39-6398-DDB3-9F7E-0A3FA30E1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3B8B37-23A9-5530-909A-AC061718D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87FA16-CD46-7A74-A747-B6B04234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EB4A5E-C720-6974-EA81-D091DC9E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F8728A-8D09-D9E3-B404-F1FEFE2F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18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A4143-07B0-E1BB-E5A3-B51A6BAC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267B9F-F51C-2BCC-015F-6EC2D1299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1DF94-529A-525C-5DE9-1A704BCEB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731F67-D876-7784-C10D-3753254D7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5051D8-82C2-BD5A-292A-9225E434E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9D7745-D132-28BF-194C-452356E2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15350F-B25C-BD1A-FD01-8924AC63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C4F9DC-2722-A7CD-0B43-D31198F2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776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2A688-6D4F-B2A6-52AC-798435BF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EA38CA-D26B-EB8C-D9C7-FCA7E3AE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C58D24-E658-382D-8BB7-ACE6035B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071CB0-ECB1-54A2-23EB-DFA0BB43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53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9581BD-6D54-3741-976F-9E92443D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399858-F94E-3752-6419-37FE7E5C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67263-C714-D4C0-2813-D081DBE3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37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F6335-850C-58E4-7E6E-393945DB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30CFB-5D62-A473-CA14-38848B4CB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FAFC62-8A31-8442-C15F-AA3200045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0686A4-E7EB-39B6-AC66-51BBA0ED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D05A0E-748A-7CC9-BB28-600901B1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0198ED-182D-3641-669F-6964AE75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022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8CC5B-A672-33CB-7BA7-D1071955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7D3025-07E4-F6FF-F643-414CAC72F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E9FACB-93DD-536F-8BB4-0F5E9F6E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39C0D-293A-F3C5-B406-D377EB64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D51156-EF94-DD1D-F469-6B943B5A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4DA4A1-77C7-1A50-7E25-F742955B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38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64232-D5FC-EFC1-081A-8BB771A2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52CAA6-79F8-5BC2-CD08-46CFCFAE6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BD9DD8-F7AF-6225-5090-43FE784C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ADB436-5B85-4F18-B256-F627303F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E08E20-AFCA-BBAC-10A2-A3BC926F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473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257F05-A86C-1F83-37FD-328D39736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5B1C48-98B7-8155-4239-F74E6C3DD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8B2F8-6030-D10C-6F31-56509983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3141B-C90A-5426-B094-D830E879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ACF52-C811-56B7-F044-B93E7F13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376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30FC9A-3DF5-2915-E7AA-F57C852B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F48567-1102-519D-0B24-0AC0D6BB7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AF1E9-AAB6-EAF1-68F0-987C440AC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F1368-D9A4-1C42-A8C3-6651B3568D9D}" type="datetimeFigureOut">
              <a:rPr kumimoji="1" lang="zh-CN" altLang="en-US" smtClean="0"/>
              <a:t>2026/3/25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3A7BE-EFDC-FA37-BFD0-468B54BB8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62D34B-7D61-A8E8-A5DB-AB9989011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35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A13223F-A5D2-B15F-CB07-EE7986C658EA}"/>
              </a:ext>
            </a:extLst>
          </p:cNvPr>
          <p:cNvSpPr txBox="1"/>
          <p:nvPr/>
        </p:nvSpPr>
        <p:spPr>
          <a:xfrm>
            <a:off x="1018703" y="2049882"/>
            <a:ext cx="101545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Distributed Services Dependency </a:t>
            </a:r>
            <a:r>
              <a:rPr lang="en-GB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 from Log</a:t>
            </a:r>
            <a:endParaRPr lang="en-GB" altLang="zh-CN" sz="4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1C9D0A-5C52-CACD-2C31-FAA0AC6287FE}"/>
              </a:ext>
            </a:extLst>
          </p:cNvPr>
          <p:cNvSpPr txBox="1"/>
          <p:nvPr/>
        </p:nvSpPr>
        <p:spPr>
          <a:xfrm>
            <a:off x="2782465" y="3976500"/>
            <a:ext cx="6627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Proposer: Wenbo Qian</a:t>
            </a:r>
            <a:endParaRPr lang="en-GB" altLang="zh-CN" sz="24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Mentors: Alison Yao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2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448D-BD4E-8E08-FEE5-37219A14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711" y="569070"/>
            <a:ext cx="10660578" cy="1325563"/>
          </a:xfrm>
        </p:spPr>
        <p:txBody>
          <a:bodyPr>
            <a:normAutofit/>
          </a:bodyPr>
          <a:lstStyle/>
          <a:p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Problem:Building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ependenc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ies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zh-CN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endParaRPr kumimoji="1"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343CC-B4BE-27F7-2C9E-65BCBB34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Traditional approaches</a:t>
            </a:r>
            <a:r>
              <a:rPr lang="zh-CN" altLang="en-US" dirty="0"/>
              <a:t> </a:t>
            </a:r>
            <a:r>
              <a:rPr lang="en-GB" altLang="zh-CN" dirty="0"/>
              <a:t>are impractical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GB" altLang="zh-CN" dirty="0"/>
              <a:t>modern cloud systems</a:t>
            </a:r>
          </a:p>
          <a:p>
            <a:pPr lvl="1"/>
            <a:r>
              <a:rPr lang="en-GB" altLang="zh-CN" dirty="0"/>
              <a:t>Documentation becomes outdated quickly and requires continuous maintenance.</a:t>
            </a:r>
          </a:p>
          <a:p>
            <a:pPr lvl="1"/>
            <a:r>
              <a:rPr lang="en-GB" altLang="zh-CN" dirty="0"/>
              <a:t>Tracing across heterogeneous tech stacks demands heavy engineering effort.</a:t>
            </a:r>
          </a:p>
          <a:p>
            <a:pPr lvl="1"/>
            <a:r>
              <a:rPr lang="en-GB" altLang="zh-CN" dirty="0"/>
              <a:t>Service context isn’t shared effectively across teams, hindering</a:t>
            </a:r>
            <a:r>
              <a:rPr lang="zh-CN" altLang="en-US" dirty="0"/>
              <a:t> </a:t>
            </a:r>
            <a:r>
              <a:rPr lang="en-GB" altLang="zh-CN" dirty="0"/>
              <a:t>coordination.</a:t>
            </a:r>
          </a:p>
          <a:p>
            <a:pPr lvl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8104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1B7A7-7F44-9C7D-1C17-DA3E97FDB986}"/>
              </a:ext>
            </a:extLst>
          </p:cNvPr>
          <p:cNvSpPr txBox="1"/>
          <p:nvPr/>
        </p:nvSpPr>
        <p:spPr>
          <a:xfrm>
            <a:off x="342794" y="524473"/>
            <a:ext cx="115064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Services Dependency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FE133D-A7E1-2ACE-E9A2-27F036C6B0F8}"/>
              </a:ext>
            </a:extLst>
          </p:cNvPr>
          <p:cNvSpPr/>
          <p:nvPr/>
        </p:nvSpPr>
        <p:spPr>
          <a:xfrm>
            <a:off x="786540" y="5325364"/>
            <a:ext cx="4793378" cy="58441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56B17A5-373F-3DB7-ECAB-9B186AA76CC0}"/>
              </a:ext>
            </a:extLst>
          </p:cNvPr>
          <p:cNvCxnSpPr>
            <a:cxnSpLocks/>
          </p:cNvCxnSpPr>
          <p:nvPr/>
        </p:nvCxnSpPr>
        <p:spPr>
          <a:xfrm>
            <a:off x="5846956" y="3779350"/>
            <a:ext cx="0" cy="58323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2">
            <a:extLst>
              <a:ext uri="{FF2B5EF4-FFF2-40B4-BE49-F238E27FC236}">
                <a16:creationId xmlns:a16="http://schemas.microsoft.com/office/drawing/2014/main" id="{8F0DA9D3-FECB-396F-71CC-39A251BEA9FC}"/>
              </a:ext>
            </a:extLst>
          </p:cNvPr>
          <p:cNvGraphicFramePr>
            <a:graphicFrameLocks noGrp="1"/>
          </p:cNvGraphicFramePr>
          <p:nvPr/>
        </p:nvGraphicFramePr>
        <p:xfrm>
          <a:off x="179961" y="1777254"/>
          <a:ext cx="11832077" cy="279619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dirty="0"/>
                        <a:t> invoked </a:t>
                      </a:r>
                      <a:r>
                        <a:rPr lang="en-GB" altLang="zh-CN" dirty="0" err="1"/>
                        <a:t>oom</a:t>
                      </a:r>
                      <a:r>
                        <a:rPr lang="en-GB" altLang="zh-CN" dirty="0"/>
                        <a:t>-killer</a:t>
                      </a:r>
                      <a:r>
                        <a:rPr lang="en-US" altLang="zh-CN" dirty="0"/>
                        <a:t>:</a:t>
                      </a:r>
                      <a:r>
                        <a:rPr lang="zh-CN" altLang="en-US" dirty="0"/>
                        <a:t> </a:t>
                      </a:r>
                      <a:r>
                        <a:rPr lang="en-GB" altLang="zh-CN" dirty="0" err="1"/>
                        <a:t>gfp_mask</a:t>
                      </a:r>
                      <a:r>
                        <a:rPr lang="en-GB" altLang="zh-CN" dirty="0"/>
                        <a:t>=0xcc0(GFP_KERNEL)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 err="1"/>
                        <a:t>oomkill:constraint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0" dirty="0" err="1"/>
                        <a:t>CONSTRAINT_MEMCG</a:t>
                      </a:r>
                      <a:r>
                        <a:rPr lang="en-GB" altLang="zh-CN" dirty="0" err="1"/>
                        <a:t>,nodemask</a:t>
                      </a:r>
                      <a:r>
                        <a:rPr lang="en-GB" altLang="zh-CN" dirty="0"/>
                        <a:t>=(null),</a:t>
                      </a:r>
                      <a:r>
                        <a:rPr lang="en-GB" altLang="zh-CN" dirty="0" err="1"/>
                        <a:t>cpuset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dirty="0" err="1"/>
                        <a:t>support.slice,mems_allowed</a:t>
                      </a:r>
                      <a:r>
                        <a:rPr lang="en-GB" altLang="zh-CN" dirty="0"/>
                        <a:t>=0,oom_memcg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</a:t>
                      </a:r>
                      <a:r>
                        <a:rPr lang="en-GB" altLang="zh-CN" b="1" dirty="0"/>
                        <a:t>RepairAgent.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dirty="0"/>
                        <a:t>,task_memcg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/RepairAgent.RepairAgent_23_9_7003_0.service</a:t>
                      </a:r>
                      <a:r>
                        <a:rPr lang="en-GB" altLang="zh-CN" dirty="0"/>
                        <a:t>,task=</a:t>
                      </a:r>
                      <a:r>
                        <a:rPr lang="en-GB" altLang="zh-CN" b="1" dirty="0" err="1"/>
                        <a:t>RepairAgent</a:t>
                      </a:r>
                      <a:r>
                        <a:rPr lang="en-GB" altLang="zh-CN" dirty="0" err="1"/>
                        <a:t>,pid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dirty="0"/>
                        <a:t>,uid=0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11FAF4AE-6244-7825-B2E8-BBAE04C68F3D}"/>
              </a:ext>
            </a:extLst>
          </p:cNvPr>
          <p:cNvSpPr txBox="1"/>
          <p:nvPr/>
        </p:nvSpPr>
        <p:spPr>
          <a:xfrm>
            <a:off x="786540" y="5356141"/>
            <a:ext cx="4870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D61E57-DF2F-F574-FBC6-B2710F9796E8}"/>
              </a:ext>
            </a:extLst>
          </p:cNvPr>
          <p:cNvSpPr/>
          <p:nvPr/>
        </p:nvSpPr>
        <p:spPr>
          <a:xfrm>
            <a:off x="6998416" y="5399106"/>
            <a:ext cx="3581030" cy="47819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C79B0D-95B9-CE28-B27C-2A29BFD6BC90}"/>
              </a:ext>
            </a:extLst>
          </p:cNvPr>
          <p:cNvSpPr txBox="1"/>
          <p:nvPr/>
        </p:nvSpPr>
        <p:spPr>
          <a:xfrm>
            <a:off x="6998417" y="5399107"/>
            <a:ext cx="3724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C63C3876-7655-1658-709C-ABE54074843E}"/>
              </a:ext>
            </a:extLst>
          </p:cNvPr>
          <p:cNvCxnSpPr>
            <a:cxnSpLocks/>
          </p:cNvCxnSpPr>
          <p:nvPr/>
        </p:nvCxnSpPr>
        <p:spPr>
          <a:xfrm>
            <a:off x="3326860" y="4680192"/>
            <a:ext cx="0" cy="567217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C10729C-4603-C768-D1BD-2AA51D545AAB}"/>
              </a:ext>
            </a:extLst>
          </p:cNvPr>
          <p:cNvCxnSpPr>
            <a:cxnSpLocks/>
          </p:cNvCxnSpPr>
          <p:nvPr/>
        </p:nvCxnSpPr>
        <p:spPr>
          <a:xfrm>
            <a:off x="9032567" y="4702494"/>
            <a:ext cx="0" cy="62287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46BFF41-DDE9-2931-A262-329CDA41693D}"/>
              </a:ext>
            </a:extLst>
          </p:cNvPr>
          <p:cNvSpPr txBox="1"/>
          <p:nvPr/>
        </p:nvSpPr>
        <p:spPr>
          <a:xfrm>
            <a:off x="7725770" y="5942255"/>
            <a:ext cx="2708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happens-</a:t>
            </a:r>
            <a:r>
              <a:rPr lang="en-GB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F3207F-D1C1-AA10-2CAD-5A43F0702C07}"/>
              </a:ext>
            </a:extLst>
          </p:cNvPr>
          <p:cNvSpPr txBox="1"/>
          <p:nvPr/>
        </p:nvSpPr>
        <p:spPr>
          <a:xfrm>
            <a:off x="7725770" y="6286236"/>
            <a:ext cx="3498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曲线连接符 38">
            <a:extLst>
              <a:ext uri="{FF2B5EF4-FFF2-40B4-BE49-F238E27FC236}">
                <a16:creationId xmlns:a16="http://schemas.microsoft.com/office/drawing/2014/main" id="{C1F039C0-C281-A4BC-269B-AF168F8F7D18}"/>
              </a:ext>
            </a:extLst>
          </p:cNvPr>
          <p:cNvCxnSpPr>
            <a:cxnSpLocks/>
          </p:cNvCxnSpPr>
          <p:nvPr/>
        </p:nvCxnSpPr>
        <p:spPr>
          <a:xfrm>
            <a:off x="10255184" y="5639857"/>
            <a:ext cx="906282" cy="810741"/>
          </a:xfrm>
          <a:prstGeom prst="curvedConnector3">
            <a:avLst>
              <a:gd name="adj1" fmla="val 12522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15990B1B-FCD4-90DD-C49A-54B122093640}"/>
              </a:ext>
            </a:extLst>
          </p:cNvPr>
          <p:cNvSpPr txBox="1"/>
          <p:nvPr/>
        </p:nvSpPr>
        <p:spPr>
          <a:xfrm>
            <a:off x="3489720" y="5928818"/>
            <a:ext cx="1508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122A5BB-DFDD-433F-0982-E0524F874894}"/>
              </a:ext>
            </a:extLst>
          </p:cNvPr>
          <p:cNvSpPr txBox="1"/>
          <p:nvPr/>
        </p:nvSpPr>
        <p:spPr>
          <a:xfrm>
            <a:off x="3449626" y="6330626"/>
            <a:ext cx="171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Repair</a:t>
            </a:r>
            <a:r>
              <a:rPr lang="zh-CN" alt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endParaRPr lang="zh-CN" altLang="en-US" b="1" dirty="0"/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A9C608AE-E418-203A-33D1-7EAEC1E394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75850" y="6268502"/>
            <a:ext cx="434284" cy="189876"/>
          </a:xfrm>
          <a:prstGeom prst="curvedConnector4">
            <a:avLst>
              <a:gd name="adj1" fmla="val -5425"/>
              <a:gd name="adj2" fmla="val 22039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31C74E-80FF-D459-E45F-7803999547D1}"/>
              </a:ext>
            </a:extLst>
          </p:cNvPr>
          <p:cNvSpPr txBox="1"/>
          <p:nvPr/>
        </p:nvSpPr>
        <p:spPr>
          <a:xfrm>
            <a:off x="1030534" y="5959595"/>
            <a:ext cx="2708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247953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0A92AA-010F-EE8F-D70B-7EDFCD615322}"/>
              </a:ext>
            </a:extLst>
          </p:cNvPr>
          <p:cNvSpPr txBox="1"/>
          <p:nvPr/>
        </p:nvSpPr>
        <p:spPr>
          <a:xfrm>
            <a:off x="1030534" y="6361799"/>
            <a:ext cx="2587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2023-09-15T16:19:20.705592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7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7ADB4E-AB9E-B2E5-E657-75701F34F3FA}"/>
              </a:ext>
            </a:extLst>
          </p:cNvPr>
          <p:cNvSpPr/>
          <p:nvPr/>
        </p:nvSpPr>
        <p:spPr>
          <a:xfrm>
            <a:off x="5260316" y="2396791"/>
            <a:ext cx="1945567" cy="100574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6E5B7F-0DEF-44CB-8378-96C4F839505C}"/>
              </a:ext>
            </a:extLst>
          </p:cNvPr>
          <p:cNvSpPr txBox="1"/>
          <p:nvPr/>
        </p:nvSpPr>
        <p:spPr>
          <a:xfrm>
            <a:off x="1973660" y="646578"/>
            <a:ext cx="81317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gent-based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xtraction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E4127D-1E18-042B-5BCE-E223568C3C1B}"/>
              </a:ext>
            </a:extLst>
          </p:cNvPr>
          <p:cNvSpPr txBox="1"/>
          <p:nvPr/>
        </p:nvSpPr>
        <p:spPr>
          <a:xfrm>
            <a:off x="1509160" y="286028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FC07CD-0700-A7FB-2460-9DDAA0C8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97" y="2263244"/>
            <a:ext cx="590550" cy="6096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8F048AB-309F-D004-1FD5-04426181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510" y="2454466"/>
            <a:ext cx="590552" cy="60960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445E22A-BBF2-1B54-533E-DE46638FD409}"/>
              </a:ext>
            </a:extLst>
          </p:cNvPr>
          <p:cNvSpPr txBox="1"/>
          <p:nvPr/>
        </p:nvSpPr>
        <p:spPr>
          <a:xfrm>
            <a:off x="2675840" y="304495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9CAFA38-B639-6908-D864-B8CBFD1D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364" y="2924815"/>
            <a:ext cx="590552" cy="6096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347FB7D-A42A-F7D1-9020-B2435827F746}"/>
              </a:ext>
            </a:extLst>
          </p:cNvPr>
          <p:cNvSpPr txBox="1"/>
          <p:nvPr/>
        </p:nvSpPr>
        <p:spPr>
          <a:xfrm>
            <a:off x="3973998" y="34304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ChatGPT - Simple English Wikipedia, the free encyclopedia">
            <a:extLst>
              <a:ext uri="{FF2B5EF4-FFF2-40B4-BE49-F238E27FC236}">
                <a16:creationId xmlns:a16="http://schemas.microsoft.com/office/drawing/2014/main" id="{72866535-7742-76E6-8AE2-D6CFC31ED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970" y="2630933"/>
            <a:ext cx="479769" cy="47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4A599F9-AFD3-8E2F-3FF4-2E2BAB8108E9}"/>
              </a:ext>
            </a:extLst>
          </p:cNvPr>
          <p:cNvSpPr txBox="1"/>
          <p:nvPr/>
        </p:nvSpPr>
        <p:spPr>
          <a:xfrm>
            <a:off x="4864232" y="3524410"/>
            <a:ext cx="2737734" cy="38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1"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Extractor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A322D78A-3A7D-B4A6-6A78-FD4D511E0B76}"/>
              </a:ext>
            </a:extLst>
          </p:cNvPr>
          <p:cNvCxnSpPr>
            <a:cxnSpLocks/>
          </p:cNvCxnSpPr>
          <p:nvPr/>
        </p:nvCxnSpPr>
        <p:spPr>
          <a:xfrm>
            <a:off x="4335916" y="2924815"/>
            <a:ext cx="80652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715D5A0-EE42-5459-4BD3-1412C439F9C1}"/>
              </a:ext>
            </a:extLst>
          </p:cNvPr>
          <p:cNvSpPr txBox="1"/>
          <p:nvPr/>
        </p:nvSpPr>
        <p:spPr>
          <a:xfrm>
            <a:off x="8312876" y="3264784"/>
            <a:ext cx="31220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{"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"resource"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"}</a:t>
            </a:r>
          </a:p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DC9FED-6879-8BE5-7484-975A921013C2}"/>
              </a:ext>
            </a:extLst>
          </p:cNvPr>
          <p:cNvSpPr txBox="1"/>
          <p:nvPr/>
        </p:nvSpPr>
        <p:spPr>
          <a:xfrm>
            <a:off x="6113388" y="2691280"/>
            <a:ext cx="759997" cy="375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0B6264-C924-FB8C-DBC3-7BE85329B8BD}"/>
              </a:ext>
            </a:extLst>
          </p:cNvPr>
          <p:cNvSpPr txBox="1"/>
          <p:nvPr/>
        </p:nvSpPr>
        <p:spPr>
          <a:xfrm>
            <a:off x="8828589" y="2714995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肘形连接符 10">
            <a:extLst>
              <a:ext uri="{FF2B5EF4-FFF2-40B4-BE49-F238E27FC236}">
                <a16:creationId xmlns:a16="http://schemas.microsoft.com/office/drawing/2014/main" id="{D4FBAD7A-2C66-990C-56E9-0765B7F9439F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7205883" y="2899661"/>
            <a:ext cx="1561047" cy="1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52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7FF-A9A8-6BF1-DAA3-91D480CA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57EDBF-97C7-C818-1C2A-BE75ED4BDE3D}"/>
              </a:ext>
            </a:extLst>
          </p:cNvPr>
          <p:cNvSpPr txBox="1"/>
          <p:nvPr/>
        </p:nvSpPr>
        <p:spPr>
          <a:xfrm>
            <a:off x="1696270" y="611362"/>
            <a:ext cx="87994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12382E0-313C-A042-0771-2921EDDCD75C}"/>
              </a:ext>
            </a:extLst>
          </p:cNvPr>
          <p:cNvSpPr/>
          <p:nvPr/>
        </p:nvSpPr>
        <p:spPr>
          <a:xfrm>
            <a:off x="2649893" y="3303037"/>
            <a:ext cx="1732385" cy="11142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1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01A87BF-00CA-5071-95DE-C197454B1C2E}"/>
              </a:ext>
            </a:extLst>
          </p:cNvPr>
          <p:cNvSpPr/>
          <p:nvPr/>
        </p:nvSpPr>
        <p:spPr>
          <a:xfrm>
            <a:off x="6431902" y="1865449"/>
            <a:ext cx="1732385" cy="8913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2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D7F5134-20B2-71AB-B419-70E898FA962E}"/>
              </a:ext>
            </a:extLst>
          </p:cNvPr>
          <p:cNvSpPr/>
          <p:nvPr/>
        </p:nvSpPr>
        <p:spPr>
          <a:xfrm>
            <a:off x="6506546" y="5061544"/>
            <a:ext cx="1732385" cy="8913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3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F7FC261E-C99A-8E8A-1CEA-2037089414E4}"/>
              </a:ext>
            </a:extLst>
          </p:cNvPr>
          <p:cNvCxnSpPr>
            <a:stCxn id="6" idx="2"/>
            <a:endCxn id="15" idx="1"/>
          </p:cNvCxnSpPr>
          <p:nvPr/>
        </p:nvCxnSpPr>
        <p:spPr>
          <a:xfrm rot="16200000" flipH="1">
            <a:off x="4466330" y="3467021"/>
            <a:ext cx="1089972" cy="29904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F3B78754-A564-6434-85BC-3DC1F92EACB3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5400000" flipH="1" flipV="1">
            <a:off x="4478047" y="1349182"/>
            <a:ext cx="991895" cy="291581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704FD644-8378-BD56-38A2-AE9016CD7847}"/>
              </a:ext>
            </a:extLst>
          </p:cNvPr>
          <p:cNvSpPr/>
          <p:nvPr/>
        </p:nvSpPr>
        <p:spPr>
          <a:xfrm>
            <a:off x="2672049" y="2093904"/>
            <a:ext cx="1837748" cy="43447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8C88AF10-7ACA-FCFB-DDAF-AFF4FB063DB3}"/>
              </a:ext>
            </a:extLst>
          </p:cNvPr>
          <p:cNvCxnSpPr>
            <a:cxnSpLocks/>
            <a:stCxn id="15" idx="0"/>
            <a:endCxn id="40" idx="4"/>
          </p:cNvCxnSpPr>
          <p:nvPr/>
        </p:nvCxnSpPr>
        <p:spPr>
          <a:xfrm rot="16200000" flipV="1">
            <a:off x="6886740" y="4575544"/>
            <a:ext cx="971998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7428C08C-8AB2-C636-F6BB-B3AB4293A45A}"/>
              </a:ext>
            </a:extLst>
          </p:cNvPr>
          <p:cNvSpPr/>
          <p:nvPr/>
        </p:nvSpPr>
        <p:spPr>
          <a:xfrm>
            <a:off x="6361921" y="3623957"/>
            <a:ext cx="2021634" cy="46558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7D99197-99F3-3165-D408-37DA3C2EE698}"/>
              </a:ext>
            </a:extLst>
          </p:cNvPr>
          <p:cNvSpPr/>
          <p:nvPr/>
        </p:nvSpPr>
        <p:spPr>
          <a:xfrm>
            <a:off x="2597405" y="5283428"/>
            <a:ext cx="1837748" cy="43447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三角形 43">
            <a:extLst>
              <a:ext uri="{FF2B5EF4-FFF2-40B4-BE49-F238E27FC236}">
                <a16:creationId xmlns:a16="http://schemas.microsoft.com/office/drawing/2014/main" id="{57E4B0A5-ABCF-20AB-B536-51169A92E5A8}"/>
              </a:ext>
            </a:extLst>
          </p:cNvPr>
          <p:cNvSpPr/>
          <p:nvPr/>
        </p:nvSpPr>
        <p:spPr>
          <a:xfrm>
            <a:off x="3274982" y="2658758"/>
            <a:ext cx="482206" cy="508157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三角形 44">
            <a:extLst>
              <a:ext uri="{FF2B5EF4-FFF2-40B4-BE49-F238E27FC236}">
                <a16:creationId xmlns:a16="http://schemas.microsoft.com/office/drawing/2014/main" id="{AF7BA851-687F-28B8-4BC2-F9FDBA651AB9}"/>
              </a:ext>
            </a:extLst>
          </p:cNvPr>
          <p:cNvSpPr/>
          <p:nvPr/>
        </p:nvSpPr>
        <p:spPr>
          <a:xfrm rot="16200000">
            <a:off x="5024292" y="2065988"/>
            <a:ext cx="482206" cy="508157"/>
          </a:xfrm>
          <a:prstGeom prst="triangl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三角形 45">
            <a:extLst>
              <a:ext uri="{FF2B5EF4-FFF2-40B4-BE49-F238E27FC236}">
                <a16:creationId xmlns:a16="http://schemas.microsoft.com/office/drawing/2014/main" id="{39749CA7-1B8C-889F-95A2-4159EA3DD8BF}"/>
              </a:ext>
            </a:extLst>
          </p:cNvPr>
          <p:cNvSpPr/>
          <p:nvPr/>
        </p:nvSpPr>
        <p:spPr>
          <a:xfrm rot="10800000">
            <a:off x="3271933" y="4583656"/>
            <a:ext cx="482206" cy="5081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三角形 46">
            <a:extLst>
              <a:ext uri="{FF2B5EF4-FFF2-40B4-BE49-F238E27FC236}">
                <a16:creationId xmlns:a16="http://schemas.microsoft.com/office/drawing/2014/main" id="{4A5530B7-A3DE-6455-D9DD-C2AE2972937F}"/>
              </a:ext>
            </a:extLst>
          </p:cNvPr>
          <p:cNvSpPr/>
          <p:nvPr/>
        </p:nvSpPr>
        <p:spPr>
          <a:xfrm rot="5400000">
            <a:off x="5112731" y="5246585"/>
            <a:ext cx="482206" cy="50815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三角形 48">
            <a:extLst>
              <a:ext uri="{FF2B5EF4-FFF2-40B4-BE49-F238E27FC236}">
                <a16:creationId xmlns:a16="http://schemas.microsoft.com/office/drawing/2014/main" id="{1DD2D4E9-A644-FE8D-C385-C700CA6F6A8D}"/>
              </a:ext>
            </a:extLst>
          </p:cNvPr>
          <p:cNvSpPr/>
          <p:nvPr/>
        </p:nvSpPr>
        <p:spPr>
          <a:xfrm>
            <a:off x="7131635" y="4239978"/>
            <a:ext cx="482206" cy="508157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9B135B4-FB61-6E66-53CC-3C26232C7CA2}"/>
              </a:ext>
            </a:extLst>
          </p:cNvPr>
          <p:cNvSpPr txBox="1"/>
          <p:nvPr/>
        </p:nvSpPr>
        <p:spPr>
          <a:xfrm>
            <a:off x="8807078" y="2528377"/>
            <a:ext cx="31220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{"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"resource"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"}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/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29B99CF-5F2B-191E-0B52-3C9098BB0ED7}"/>
              </a:ext>
            </a:extLst>
          </p:cNvPr>
          <p:cNvSpPr txBox="1"/>
          <p:nvPr/>
        </p:nvSpPr>
        <p:spPr>
          <a:xfrm>
            <a:off x="4415443" y="2560790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2.1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BFD2386-7AA6-5F56-BFDE-28ACD7ABC9A2}"/>
              </a:ext>
            </a:extLst>
          </p:cNvPr>
          <p:cNvSpPr txBox="1"/>
          <p:nvPr/>
        </p:nvSpPr>
        <p:spPr>
          <a:xfrm>
            <a:off x="1731212" y="2778455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E56F0CF-6DD3-8D3A-78EE-A75C759B6FC5}"/>
              </a:ext>
            </a:extLst>
          </p:cNvPr>
          <p:cNvSpPr txBox="1"/>
          <p:nvPr/>
        </p:nvSpPr>
        <p:spPr>
          <a:xfrm>
            <a:off x="1805856" y="4651490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8F46F84-750F-0876-DA0A-E3959D27AEE9}"/>
              </a:ext>
            </a:extLst>
          </p:cNvPr>
          <p:cNvSpPr txBox="1"/>
          <p:nvPr/>
        </p:nvSpPr>
        <p:spPr>
          <a:xfrm>
            <a:off x="4435153" y="5795841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r>
              <a:rPr kumimoji="1" lang="en-US" altLang="zh-CN" dirty="0"/>
              <a:t>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97D90D3A-9068-220D-1800-99FA34F9A1C2}"/>
              </a:ext>
            </a:extLst>
          </p:cNvPr>
          <p:cNvCxnSpPr>
            <a:stCxn id="6" idx="3"/>
            <a:endCxn id="40" idx="2"/>
          </p:cNvCxnSpPr>
          <p:nvPr/>
        </p:nvCxnSpPr>
        <p:spPr>
          <a:xfrm flipV="1">
            <a:off x="4382278" y="3856752"/>
            <a:ext cx="1979643" cy="3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三角形 47">
            <a:extLst>
              <a:ext uri="{FF2B5EF4-FFF2-40B4-BE49-F238E27FC236}">
                <a16:creationId xmlns:a16="http://schemas.microsoft.com/office/drawing/2014/main" id="{67DA6C94-C44D-68AC-2E60-80C90E8FE685}"/>
              </a:ext>
            </a:extLst>
          </p:cNvPr>
          <p:cNvSpPr/>
          <p:nvPr/>
        </p:nvSpPr>
        <p:spPr>
          <a:xfrm rot="5400000">
            <a:off x="5153968" y="3608673"/>
            <a:ext cx="482206" cy="50815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4BBA8B9-1EE6-6E10-7AE8-62C090525876}"/>
              </a:ext>
            </a:extLst>
          </p:cNvPr>
          <p:cNvSpPr txBox="1"/>
          <p:nvPr/>
        </p:nvSpPr>
        <p:spPr>
          <a:xfrm>
            <a:off x="7131635" y="4282158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r>
              <a:rPr kumimoji="1" lang="en-US" altLang="zh-CN" dirty="0"/>
              <a:t>.2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48" name="文本框 2047">
            <a:extLst>
              <a:ext uri="{FF2B5EF4-FFF2-40B4-BE49-F238E27FC236}">
                <a16:creationId xmlns:a16="http://schemas.microsoft.com/office/drawing/2014/main" id="{24F2AE3A-5BB0-1F6B-D458-5BE97217B4FC}"/>
              </a:ext>
            </a:extLst>
          </p:cNvPr>
          <p:cNvSpPr txBox="1"/>
          <p:nvPr/>
        </p:nvSpPr>
        <p:spPr>
          <a:xfrm>
            <a:off x="4782957" y="3306153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33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8E28-E709-AF2F-70B9-6FBF8865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58B4D5-668B-DBCC-134F-893EC4BD07EB}"/>
              </a:ext>
            </a:extLst>
          </p:cNvPr>
          <p:cNvSpPr txBox="1"/>
          <p:nvPr/>
        </p:nvSpPr>
        <p:spPr>
          <a:xfrm>
            <a:off x="679233" y="863288"/>
            <a:ext cx="10377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Challenge: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D2ED40-14B8-2A49-76E6-C252F8526D15}"/>
              </a:ext>
            </a:extLst>
          </p:cNvPr>
          <p:cNvSpPr txBox="1"/>
          <p:nvPr/>
        </p:nvSpPr>
        <p:spPr>
          <a:xfrm>
            <a:off x="781884" y="2351313"/>
            <a:ext cx="106282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LLM-extracted interactions may be inaccurate.</a:t>
            </a:r>
          </a:p>
          <a:p>
            <a:pPr algn="ctr"/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 can we verify that each dependency is truly supported by log evidence?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5223372-1239-C37E-3506-4DB3138A5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20650"/>
              </p:ext>
            </p:extLst>
          </p:nvPr>
        </p:nvGraphicFramePr>
        <p:xfrm>
          <a:off x="679233" y="4024004"/>
          <a:ext cx="4293969" cy="119489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293969">
                  <a:extLst>
                    <a:ext uri="{9D8B030D-6E8A-4147-A177-3AD203B41FA5}">
                      <a16:colId xmlns:a16="http://schemas.microsoft.com/office/drawing/2014/main" val="2054672829"/>
                    </a:ext>
                  </a:extLst>
                </a:gridCol>
              </a:tblGrid>
              <a:tr h="387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b="1" dirty="0"/>
                        <a:t>Problem</a:t>
                      </a:r>
                      <a:endParaRPr lang="en-GB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142731"/>
                  </a:ext>
                </a:extLst>
              </a:tr>
              <a:tr h="807104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altLang="zh-CN" dirty="0"/>
                        <a:t>Missing or ambiguous log evidence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altLang="zh-CN" dirty="0"/>
                        <a:t>Incorrect caller–callee relationships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43920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D84BE6-96DD-F314-431E-2A4ECE821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903592"/>
              </p:ext>
            </p:extLst>
          </p:nvPr>
        </p:nvGraphicFramePr>
        <p:xfrm>
          <a:off x="6523307" y="4024004"/>
          <a:ext cx="4533468" cy="119487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533468">
                  <a:extLst>
                    <a:ext uri="{9D8B030D-6E8A-4147-A177-3AD203B41FA5}">
                      <a16:colId xmlns:a16="http://schemas.microsoft.com/office/drawing/2014/main" val="2054672829"/>
                    </a:ext>
                  </a:extLst>
                </a:gridCol>
              </a:tblGrid>
              <a:tr h="387781">
                <a:tc>
                  <a:txBody>
                    <a:bodyPr/>
                    <a:lstStyle/>
                    <a:p>
                      <a:r>
                        <a:rPr lang="en-GB" altLang="zh-CN" b="1" dirty="0"/>
                        <a:t>Idea</a:t>
                      </a:r>
                      <a:endParaRPr lang="en-GB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142731"/>
                  </a:ext>
                </a:extLst>
              </a:tr>
              <a:tr h="80709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altLang="zh-CN" dirty="0"/>
                        <a:t>Match extracted services with log lines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dirty="0"/>
                        <a:t>Confirm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interaction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sequence</a:t>
                      </a:r>
                      <a:endParaRPr lang="en-GB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439206"/>
                  </a:ext>
                </a:extLst>
              </a:tr>
            </a:tbl>
          </a:graphicData>
        </a:graphic>
      </p:graphicFrame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FF68F69-CA96-08FE-272F-1AAAE808D0DC}"/>
              </a:ext>
            </a:extLst>
          </p:cNvPr>
          <p:cNvCxnSpPr>
            <a:cxnSpLocks/>
          </p:cNvCxnSpPr>
          <p:nvPr/>
        </p:nvCxnSpPr>
        <p:spPr>
          <a:xfrm>
            <a:off x="5122506" y="4621449"/>
            <a:ext cx="1203649" cy="0"/>
          </a:xfrm>
          <a:prstGeom prst="straightConnector1">
            <a:avLst/>
          </a:prstGeom>
          <a:ln w="920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83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9057-1720-9DF0-7CBE-B6867389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1CAE13-553B-1E31-2699-E3B6FD839EC6}"/>
              </a:ext>
            </a:extLst>
          </p:cNvPr>
          <p:cNvSpPr txBox="1"/>
          <p:nvPr/>
        </p:nvSpPr>
        <p:spPr>
          <a:xfrm>
            <a:off x="809862" y="686007"/>
            <a:ext cx="87994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Checker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1408B6-67DC-C3AE-E8DB-CEA74F7DF77D}"/>
              </a:ext>
            </a:extLst>
          </p:cNvPr>
          <p:cNvSpPr txBox="1"/>
          <p:nvPr/>
        </p:nvSpPr>
        <p:spPr>
          <a:xfrm>
            <a:off x="1670180" y="1991965"/>
            <a:ext cx="8545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3.1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existance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regular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expression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2FCC10-F383-79BF-5399-52E9BB3B85F9}"/>
              </a:ext>
            </a:extLst>
          </p:cNvPr>
          <p:cNvSpPr txBox="1"/>
          <p:nvPr/>
        </p:nvSpPr>
        <p:spPr>
          <a:xfrm>
            <a:off x="1670180" y="3981840"/>
            <a:ext cx="8704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interaction casual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time-series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Regular Expression icon - Free Download PNG &amp; SVG | Streamline">
            <a:extLst>
              <a:ext uri="{FF2B5EF4-FFF2-40B4-BE49-F238E27FC236}">
                <a16:creationId xmlns:a16="http://schemas.microsoft.com/office/drawing/2014/main" id="{0E8C28CE-B1C8-603C-7BD5-29C53038C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203" y="2459250"/>
            <a:ext cx="1261742" cy="126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gular Expression (Regex) Essentials for Developers - CodeWithMarish">
            <a:extLst>
              <a:ext uri="{FF2B5EF4-FFF2-40B4-BE49-F238E27FC236}">
                <a16:creationId xmlns:a16="http://schemas.microsoft.com/office/drawing/2014/main" id="{1C28E55C-ECE2-C33F-08F3-BD0FBD51C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71" y="2522499"/>
            <a:ext cx="2130653" cy="119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ime Series Analysis Vector Icon 26330111 Vector Art at Vecteezy">
            <a:extLst>
              <a:ext uri="{FF2B5EF4-FFF2-40B4-BE49-F238E27FC236}">
                <a16:creationId xmlns:a16="http://schemas.microsoft.com/office/drawing/2014/main" id="{E6096CBE-4849-E71E-8911-15C4A1BA2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170" y="4381950"/>
            <a:ext cx="2360645" cy="23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92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B005-098F-3950-C025-56BFFB53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03FA960-0DC3-DE76-2BA3-B4C2D65B7588}"/>
              </a:ext>
            </a:extLst>
          </p:cNvPr>
          <p:cNvSpPr txBox="1"/>
          <p:nvPr/>
        </p:nvSpPr>
        <p:spPr>
          <a:xfrm>
            <a:off x="3507977" y="332047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B9006F4-4282-2470-909E-DBAC41C1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0" y="1289164"/>
            <a:ext cx="9780104" cy="423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58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8A83-8333-31C4-90D3-7A1D412C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711120A-664D-115C-03DF-66CF5E7E7A26}"/>
              </a:ext>
            </a:extLst>
          </p:cNvPr>
          <p:cNvSpPr txBox="1"/>
          <p:nvPr/>
        </p:nvSpPr>
        <p:spPr>
          <a:xfrm>
            <a:off x="3507977" y="332047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081B8F-6E82-AB62-8F1B-27EDE37B1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826" y="1096261"/>
            <a:ext cx="5443585" cy="235694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999A6BB-2CE1-69E5-938E-795179D3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657" y="4279110"/>
            <a:ext cx="7772400" cy="148262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A80CA4E-F78D-A325-0084-831CEED21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339" y="4688507"/>
            <a:ext cx="7772400" cy="1786127"/>
          </a:xfrm>
          <a:prstGeom prst="rect">
            <a:avLst/>
          </a:prstGeom>
        </p:spPr>
      </p:pic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CE662780-7908-E990-B4A7-BB241BAB9CAA}"/>
              </a:ext>
            </a:extLst>
          </p:cNvPr>
          <p:cNvCxnSpPr>
            <a:cxnSpLocks/>
          </p:cNvCxnSpPr>
          <p:nvPr/>
        </p:nvCxnSpPr>
        <p:spPr>
          <a:xfrm>
            <a:off x="5595288" y="3564294"/>
            <a:ext cx="0" cy="603728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47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B9B7-9304-EE1A-CBD6-4F02A9FA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B3818D9-0E06-4101-DBA0-9F1FAB8BCBCC}"/>
              </a:ext>
            </a:extLst>
          </p:cNvPr>
          <p:cNvSpPr txBox="1"/>
          <p:nvPr/>
        </p:nvSpPr>
        <p:spPr>
          <a:xfrm>
            <a:off x="3507977" y="332047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8A7871-DF79-8935-C998-F865750E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81" y="930448"/>
            <a:ext cx="7772400" cy="148262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9B1FEDC-8B23-81B2-855A-895208CBF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327" y="3699231"/>
            <a:ext cx="4361601" cy="2953351"/>
          </a:xfrm>
          <a:prstGeom prst="rect">
            <a:avLst/>
          </a:prstGeom>
        </p:spPr>
      </p:pic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A8FBCA0E-E4C9-579D-0A41-15C2CF53D9DF}"/>
              </a:ext>
            </a:extLst>
          </p:cNvPr>
          <p:cNvCxnSpPr>
            <a:cxnSpLocks/>
          </p:cNvCxnSpPr>
          <p:nvPr/>
        </p:nvCxnSpPr>
        <p:spPr>
          <a:xfrm>
            <a:off x="5660386" y="3127136"/>
            <a:ext cx="0" cy="603728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16A3E185-6D00-AD1E-7B7A-7E2F70EAD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698" y="1372643"/>
            <a:ext cx="7772400" cy="178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8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18730DF-948B-40B3-F102-51ADF53A6867}"/>
              </a:ext>
            </a:extLst>
          </p:cNvPr>
          <p:cNvSpPr txBox="1"/>
          <p:nvPr/>
        </p:nvSpPr>
        <p:spPr>
          <a:xfrm>
            <a:off x="3918524" y="313385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0A5C22B-AD03-3CA1-3E4D-870F1A3E8566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928226" y="3212521"/>
            <a:ext cx="0" cy="526078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D1D54EA9-0164-CB6B-5E9A-112268913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407" y="1051383"/>
            <a:ext cx="3191637" cy="216113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7528BAD-38E7-6342-4CAB-2B6370136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738599"/>
            <a:ext cx="7772400" cy="31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1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591</Words>
  <Application>Microsoft Macintosh PowerPoint</Application>
  <PresentationFormat>宽屏</PresentationFormat>
  <Paragraphs>102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Consolas</vt:lpstr>
      <vt:lpstr>Office 主题​​</vt:lpstr>
      <vt:lpstr>PowerPoint 演示文稿</vt:lpstr>
      <vt:lpstr>Problem:Building service dependencies is not easy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Wenbo Qian</dc:creator>
  <cp:lastModifiedBy>Wenbo Qian</cp:lastModifiedBy>
  <cp:revision>2</cp:revision>
  <dcterms:created xsi:type="dcterms:W3CDTF">2026-03-25T05:02:32Z</dcterms:created>
  <dcterms:modified xsi:type="dcterms:W3CDTF">2026-03-25T07:07:46Z</dcterms:modified>
</cp:coreProperties>
</file>